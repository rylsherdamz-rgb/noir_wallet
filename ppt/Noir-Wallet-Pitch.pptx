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08058" y="5876366"/>
            <a:ext cx="18288" cy="18288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993582" y="4028285"/>
            <a:ext cx="18288" cy="18288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741325" y="4210529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3511937" y="972430"/>
            <a:ext cx="13716" cy="13716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4989235" y="4083503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142342" y="4221529"/>
            <a:ext cx="18288" cy="18288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7963" y="3623638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495767" y="1659245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565918" y="4052799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837351" y="2017291"/>
            <a:ext cx="27432" cy="27432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68338" y="4490629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829959" y="5762198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479289" y="1575048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2226" y="5255202"/>
            <a:ext cx="13716" cy="13716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657398" y="2650709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285" y="1438242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952582" y="4861630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452834" y="1361245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649271" y="2134275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961109" y="809186"/>
            <a:ext cx="18288" cy="18288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94612" y="410748"/>
            <a:ext cx="27432" cy="27432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363747" y="1291947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748095" y="5277381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017762" y="2707904"/>
            <a:ext cx="27432" cy="27432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2121624" y="6658631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847355" y="134627"/>
            <a:ext cx="18288" cy="18288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831092" y="4128642"/>
            <a:ext cx="18288" cy="18288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331129" y="1003727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5298" y="4185664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77194" y="618023"/>
            <a:ext cx="18288" cy="18288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911014" y="4123604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563956" y="6577745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7421" y="2647853"/>
            <a:ext cx="27432" cy="27432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444170" y="1566253"/>
            <a:ext cx="13716" cy="13716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5704358" y="1086826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545950" y="6516031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17294" y="325079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4029084" y="1750015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020860" y="5649056"/>
            <a:ext cx="18288" cy="18288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2307528" y="1203122"/>
            <a:ext cx="18288" cy="18288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93990" y="3287038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4830780" y="1921744"/>
            <a:ext cx="27432" cy="27432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30341" y="1846131"/>
            <a:ext cx="27432" cy="27432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475412" y="1208748"/>
            <a:ext cx="13716" cy="13716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499448" y="902365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10E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472830" y="1783080"/>
            <a:ext cx="3291840" cy="3291840"/>
          </a:xfrm>
          <a:prstGeom prst="ellipse">
            <a:avLst/>
          </a:prstGeom>
          <a:noFill/>
          <a:ln w="15240">
            <a:solidFill>
              <a:srgbClr val="2A2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930030" y="2240280"/>
            <a:ext cx="2377440" cy="2377440"/>
          </a:xfrm>
          <a:prstGeom prst="ellipse">
            <a:avLst/>
          </a:prstGeom>
          <a:noFill/>
          <a:ln w="15240">
            <a:solidFill>
              <a:srgbClr val="3A2C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logo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1510" y="2651760"/>
            <a:ext cx="1554480" cy="155448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8229600" y="4892040"/>
            <a:ext cx="3776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Bahnschrift"/>
              </a:rPr>
              <a:t>TAP · PAY · DONE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1417320"/>
            <a:ext cx="2452420" cy="310896"/>
          </a:xfrm>
          <a:prstGeom prst="roundRect">
            <a:avLst>
              <a:gd name="adj" fmla="val 50000"/>
            </a:avLst>
          </a:prstGeom>
          <a:solidFill>
            <a:srgbClr val="3A2600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9144" rIns="73152" bIns="9144" rtlCol="0" anchor="ctr"/>
          <a:lstStyle/>
          <a:p>
            <a:pPr algn="ctr"/>
            <a:r>
              <a:rPr sz="1050" b="1">
                <a:solidFill>
                  <a:srgbClr val="F0B429"/>
                </a:solidFill>
                <a:latin typeface="Bahnschrift"/>
              </a:rPr>
              <a:t>CONTACTLESS PAYMENTS ON STELLAR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1828800"/>
            <a:ext cx="69494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2F2F2"/>
                </a:solidFill>
                <a:latin typeface="Bahnschrift"/>
              </a:rPr>
              <a:t>Noir Wallet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2880360"/>
            <a:ext cx="71323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Tap. Pay. </a:t>
            </a:r>
            <a:r>
              <a:rPr sz="4000" b="1" i="0">
                <a:solidFill>
                  <a:srgbClr val="F0B429"/>
                </a:solidFill>
                <a:latin typeface="Bahnschrift"/>
              </a:rPr>
              <a:t>Done.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" y="4069080"/>
            <a:ext cx="67665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A wallet you never open. Payments that just happen. Tap any RFID sticker, NFC card, or wearable to pay instantly — no app, no unlock, no confirmation.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5120640"/>
            <a:ext cx="6400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B8B4AC"/>
                </a:solidFill>
                <a:latin typeface="Segoe UI"/>
              </a:rPr>
              <a:t>Presented by: Richie Christian De Guzman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957913" y="4204549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58008" y="5072130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825321" y="6580148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2183964" y="3785604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33122" y="332203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218272" y="2890774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105611" y="6432727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514500" y="4199322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664002" y="2142935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733944" y="5659399"/>
            <a:ext cx="27432" cy="27432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255809" y="336899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13031" y="1725367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755981" y="2724480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867239" y="2724090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16719" y="3849416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235773" y="6166773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04183" y="3043141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524488" y="398168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910694" y="46345"/>
            <a:ext cx="27432" cy="27432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089606" y="3748761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002387" y="244973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50790" y="3672133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2456717" y="4757078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007697" y="5679114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26920" y="823409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652821" y="1949074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464648" y="3265590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8705921" y="6547671"/>
            <a:ext cx="27432" cy="27432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156184" y="819407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270123" y="439250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68767" y="4093489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161816" y="524200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76149" y="6810908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5932915" y="466558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174638" y="3983961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10370" y="806122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6721" y="2590640"/>
            <a:ext cx="13716" cy="13716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501548" y="5169097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599047" y="4723973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094935" y="6098789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46555" y="6383410"/>
            <a:ext cx="18288" cy="18288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2173988" y="6595382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65495" y="1086018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327535" y="4803532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625274" y="5565700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0292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Paying Is Still Full of Friction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1371600"/>
            <a:ext cx="1060704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Contactless was supposed to be instant. In reality, every payment still demands attention — unlock the phone, open the app, authenticate, confirm. </a:t>
            </a:r>
            <a:r>
              <a:rPr sz="1400" b="1" i="0">
                <a:solidFill>
                  <a:srgbClr val="F2F2F2"/>
                </a:solidFill>
                <a:latin typeface="Segoe UI"/>
              </a:rPr>
              <a:t>Crypto is even harder to spend: you need a cold wallet or a phone app just to pay for anything. </a:t>
            </a:r>
            <a:r>
              <a:rPr sz="1400" b="0" i="0">
                <a:solidFill>
                  <a:srgbClr val="B8B4AC"/>
                </a:solidFill>
                <a:latin typeface="Segoe UI"/>
              </a:rPr>
              <a:t>Behind it all, merchants surrender percentage fees to card rails and wait days for settlement — and high-throughput venues can't afford either.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" y="28803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2F2F2"/>
                </a:solidFill>
                <a:latin typeface="Bahnschrift"/>
              </a:rPr>
              <a:t>10–30s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" y="3886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0B429"/>
                </a:solidFill>
                <a:latin typeface="Bahnschrift"/>
              </a:rPr>
              <a:t>Per Checkout Interaction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8680" y="431596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Unlock, open, authenticate,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confirm — every single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80560" y="28803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2F2F2"/>
                </a:solidFill>
                <a:latin typeface="Bahnschrift"/>
              </a:rPr>
              <a:t>2–3%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80560" y="3886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0B429"/>
                </a:solidFill>
                <a:latin typeface="Bahnschrift"/>
              </a:rPr>
              <a:t>Card Rail Fees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80560" y="431596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What merchants surrender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on every sale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92440" y="2880360"/>
            <a:ext cx="32918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 i="0">
                <a:solidFill>
                  <a:srgbClr val="F2F2F2"/>
                </a:solidFill>
                <a:latin typeface="Bahnschrift"/>
              </a:rPr>
              <a:t>T+2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92440" y="3886200"/>
            <a:ext cx="3291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 i="0">
                <a:solidFill>
                  <a:srgbClr val="F0B429"/>
                </a:solidFill>
                <a:latin typeface="Bahnschrift"/>
              </a:rPr>
              <a:t>Days to Settle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92440" y="4315968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Before merchants actually</a:t>
            </a:r>
          </a:p>
          <a:p>
            <a:pPr algn="ctr">
              <a:lnSpc>
                <a:spcPct val="110000"/>
              </a:lnSpc>
            </a:pPr>
            <a:r>
              <a:rPr sz="1250" b="0" i="0">
                <a:solidFill>
                  <a:srgbClr val="B8B4AC"/>
                </a:solidFill>
                <a:latin typeface="Segoe UI"/>
              </a:rPr>
              <a:t>see their money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" y="5486400"/>
            <a:ext cx="106070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0B429"/>
                </a:solidFill>
                <a:latin typeface="Segoe UI"/>
              </a:rPr>
              <a:t>The principle: crypto gets adopted when people can use it daily. </a:t>
            </a:r>
            <a:r>
              <a:rPr sz="1400" b="0" i="0">
                <a:solidFill>
                  <a:srgbClr val="B8B4AC"/>
                </a:solidFill>
                <a:latin typeface="Segoe UI"/>
              </a:rPr>
              <a:t>Remove the friction from everyday purchases, and spending crypto becomes as natural as tapping a card — that's what turns holders into users.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039106" y="1599407"/>
            <a:ext cx="27432" cy="27432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947278" y="6109181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938481" y="6207862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79591" y="3622849"/>
            <a:ext cx="18288" cy="18288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503610" y="4359080"/>
            <a:ext cx="18288" cy="18288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770396" y="3402257"/>
            <a:ext cx="18288" cy="18288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407450" y="5046490"/>
            <a:ext cx="27432" cy="27432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313704" y="3810359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429565" y="384182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2076003" y="454191"/>
            <a:ext cx="13716" cy="13716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967411" y="5277695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902651" y="2426854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66965" y="2668052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718780" y="2500278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326139" y="5843441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37061" y="5542364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998480" y="2387736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970063" y="3139588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188582" y="3115414"/>
            <a:ext cx="18288" cy="18288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6182" y="3299871"/>
            <a:ext cx="18288" cy="18288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353178" y="5985168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38009" y="4958523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092604" y="5001994"/>
            <a:ext cx="13716" cy="13716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422420" y="6073245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5640963" y="2894503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176988" y="6010981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50325" y="2723375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287019" y="1270531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7583463" y="1962523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73741" y="6625561"/>
            <a:ext cx="13716" cy="13716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1347603" y="2296269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149722" y="4023203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366158" y="4286700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778686" y="632202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53220" y="805198"/>
            <a:ext cx="27432" cy="27432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1583322" y="490362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993921" y="6827659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82664" y="6440406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175029" y="5581237"/>
            <a:ext cx="13716" cy="13716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83832" y="142810"/>
            <a:ext cx="18288" cy="18288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779953" y="773157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745299" y="5080191"/>
            <a:ext cx="13716" cy="13716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201034" y="5730572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066594" y="1992332"/>
            <a:ext cx="13716" cy="13716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6398107" y="4930931"/>
            <a:ext cx="18288" cy="18288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5720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2F2"/>
                </a:solidFill>
                <a:latin typeface="Bahnschrift"/>
              </a:rPr>
              <a:t>Checkout Should Never Be</a:t>
            </a:r>
          </a:p>
          <a:p>
            <a:pPr algn="l">
              <a:lnSpc>
                <a:spcPct val="105000"/>
              </a:lnSpc>
            </a:pPr>
            <a:r>
              <a:rPr sz="3800" b="1" i="0">
                <a:solidFill>
                  <a:srgbClr val="F2F2F2"/>
                </a:solidFill>
                <a:latin typeface="Bahnschrift"/>
              </a:rPr>
              <a:t>the Bottleneck</a:t>
            </a:r>
          </a:p>
        </p:txBody>
      </p:sp>
      <p:pic>
        <p:nvPicPr>
          <p:cNvPr id="48" name="Picture 47" descr="tapmo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77440"/>
            <a:ext cx="6126480" cy="33133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7315200" y="2148840"/>
            <a:ext cx="4206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What Traditional Payments</a:t>
            </a:r>
          </a:p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Demand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7360920" y="2962656"/>
            <a:ext cx="292608" cy="146304"/>
          </a:xfrm>
          <a:prstGeom prst="rightArrow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772400" y="2871216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2F2F2"/>
                </a:solidFill>
                <a:latin typeface="Segoe UI"/>
              </a:rPr>
              <a:t>Unlock your phone and open an app for every purchase</a:t>
            </a:r>
          </a:p>
        </p:txBody>
      </p:sp>
      <p:sp>
        <p:nvSpPr>
          <p:cNvPr id="52" name="Right Arrow 51"/>
          <p:cNvSpPr/>
          <p:nvPr/>
        </p:nvSpPr>
        <p:spPr>
          <a:xfrm>
            <a:off x="7360920" y="3529584"/>
            <a:ext cx="292608" cy="146304"/>
          </a:xfrm>
          <a:prstGeom prst="rightArrow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772400" y="3438144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2F2F2"/>
                </a:solidFill>
                <a:latin typeface="Segoe UI"/>
              </a:rPr>
              <a:t>Confirm each transaction on-device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360920" y="4096511"/>
            <a:ext cx="292608" cy="146304"/>
          </a:xfrm>
          <a:prstGeom prst="rightArrow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772400" y="4005072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2F2F2"/>
                </a:solidFill>
                <a:latin typeface="Segoe UI"/>
              </a:rPr>
              <a:t>2–3% fees on closed card networks</a:t>
            </a:r>
          </a:p>
        </p:txBody>
      </p:sp>
      <p:sp>
        <p:nvSpPr>
          <p:cNvPr id="56" name="Right Arrow 55"/>
          <p:cNvSpPr/>
          <p:nvPr/>
        </p:nvSpPr>
        <p:spPr>
          <a:xfrm>
            <a:off x="7360920" y="4663440"/>
            <a:ext cx="292608" cy="146304"/>
          </a:xfrm>
          <a:prstGeom prst="rightArrow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7772400" y="4572000"/>
            <a:ext cx="3931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 i="0">
                <a:solidFill>
                  <a:srgbClr val="F2F2F2"/>
                </a:solidFill>
                <a:latin typeface="Segoe UI"/>
              </a:rPr>
              <a:t>Multi-day settlement before funds arrive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269480" y="5074920"/>
            <a:ext cx="4297680" cy="1188720"/>
          </a:xfrm>
          <a:prstGeom prst="roundRect">
            <a:avLst>
              <a:gd name="adj" fmla="val 7615"/>
            </a:avLst>
          </a:prstGeom>
          <a:solidFill>
            <a:srgbClr val="4A3200"/>
          </a:solidFill>
          <a:ln w="13970">
            <a:solidFill>
              <a:srgbClr val="4A32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37160" rtlCol="0" anchor="ctr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2F2F2"/>
                </a:solidFill>
                <a:latin typeface="Segoe UI"/>
              </a:rPr>
              <a:t>Speed should not cost you custody. </a:t>
            </a:r>
            <a:r>
              <a:rPr sz="1250">
                <a:solidFill>
                  <a:srgbClr val="F5E6C8"/>
                </a:solidFill>
                <a:latin typeface="Segoe UI"/>
              </a:rPr>
              <a:t>Even “tap to pay” cards ride closed networks with percentage fees and day-long settlement.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374661" y="4811670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193115" y="1985858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84086" y="687035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324089" y="4756093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3407455" y="4741001"/>
            <a:ext cx="27432" cy="27432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8766" y="5771164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42280" y="480517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066922" y="738722"/>
            <a:ext cx="18288" cy="18288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94464" y="2646357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13314" y="1293371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085997" y="337446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670912" y="259462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200384" y="4481332"/>
            <a:ext cx="27432" cy="27432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986410" y="4324368"/>
            <a:ext cx="18288" cy="18288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266809" y="3315505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184210" y="6675214"/>
            <a:ext cx="18288" cy="18288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323024" y="1530338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338427" y="4435688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367603" y="2446097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8152" y="2332614"/>
            <a:ext cx="18288" cy="18288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029254" y="6850583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241713" y="840033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184493" y="37011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7748299" y="432466"/>
            <a:ext cx="18288" cy="18288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661529" y="1223439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05612" y="5884519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064447" y="6707708"/>
            <a:ext cx="18288" cy="18288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318375" y="5406702"/>
            <a:ext cx="27432" cy="27432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710223" y="448611"/>
            <a:ext cx="27432" cy="27432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3374766" y="2072116"/>
            <a:ext cx="18288" cy="18288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2670095" y="903270"/>
            <a:ext cx="13716" cy="13716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113910" y="6348818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2903990" y="3041317"/>
            <a:ext cx="27432" cy="27432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483461" y="1910602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6943879" y="1667401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711462" y="500703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820937" y="6783786"/>
            <a:ext cx="18288" cy="18288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07779" y="6347066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49421" y="6633536"/>
            <a:ext cx="27432" cy="27432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649074" y="541584"/>
            <a:ext cx="13716" cy="13716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748343" y="5504788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8098148" y="5091450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3777094" y="1513420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189782" y="34985"/>
            <a:ext cx="13716" cy="13716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506490" y="1452999"/>
            <a:ext cx="13716" cy="13716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549640" y="0"/>
            <a:ext cx="3642055" cy="6858000"/>
          </a:xfrm>
          <a:prstGeom prst="rect">
            <a:avLst/>
          </a:prstGeom>
          <a:solidFill>
            <a:srgbClr val="0E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Picture 47" descr="dashboard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6840" y="320040"/>
            <a:ext cx="2914863" cy="6217920"/>
          </a:xfrm>
          <a:prstGeom prst="rect">
            <a:avLst/>
          </a:prstGeom>
        </p:spPr>
      </p:pic>
      <p:sp>
        <p:nvSpPr>
          <p:cNvPr id="49" name="Rounded Rectangle 48"/>
          <p:cNvSpPr/>
          <p:nvPr/>
        </p:nvSpPr>
        <p:spPr>
          <a:xfrm>
            <a:off x="685800" y="411480"/>
            <a:ext cx="1027785" cy="310896"/>
          </a:xfrm>
          <a:prstGeom prst="roundRect">
            <a:avLst>
              <a:gd name="adj" fmla="val 50000"/>
            </a:avLst>
          </a:prstGeom>
          <a:solidFill>
            <a:srgbClr val="3A2600"/>
          </a:solidFill>
          <a:ln w="9525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73152" tIns="9144" rIns="73152" bIns="9144" rtlCol="0" anchor="ctr"/>
          <a:lstStyle/>
          <a:p>
            <a:pPr algn="ctr"/>
            <a:r>
              <a:rPr sz="1050" b="1">
                <a:solidFill>
                  <a:srgbClr val="F0B429"/>
                </a:solidFill>
                <a:latin typeface="Bahnschrift"/>
              </a:rPr>
              <a:t>OUR SOLUTION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777240"/>
            <a:ext cx="7680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2F2F2"/>
                </a:solidFill>
                <a:latin typeface="Bahnschrift"/>
              </a:rPr>
              <a:t>Introducing Noir Wallet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157276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Segoe UI"/>
              </a:rPr>
              <a:t>Zero interaction. Instant settlement.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85800" y="2057400"/>
            <a:ext cx="7452360" cy="1060704"/>
          </a:xfrm>
          <a:prstGeom prst="roundRect">
            <a:avLst>
              <a:gd name="adj" fmla="val 8172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0120" y="2167128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Tap-First Identity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2532888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Any RFID sticker, NFC card, or wearable links to your Stellar wallet — the tag is the login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227832"/>
            <a:ext cx="7452360" cy="1060704"/>
          </a:xfrm>
          <a:prstGeom prst="roundRect">
            <a:avLst>
              <a:gd name="adj" fmla="val 8172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" y="3337560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x402 Protocol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3703320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Debited the moment your tag touches the terminal — no unlock, no app, no confirmation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4398264"/>
            <a:ext cx="7452360" cy="1060704"/>
          </a:xfrm>
          <a:prstGeom prst="roundRect">
            <a:avLst>
              <a:gd name="adj" fmla="val 8172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" y="4507992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x402 Agents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4873752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Each device gets its own funded agent wallet with a daily limit — your main funds stay untouched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85800" y="5568696"/>
            <a:ext cx="7452360" cy="1060704"/>
          </a:xfrm>
          <a:prstGeom prst="roundRect">
            <a:avLst>
              <a:gd name="adj" fmla="val 8172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60120" y="5678424"/>
            <a:ext cx="6949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Soroban Registry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" y="6044184"/>
            <a:ext cx="6949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The device_registry smart contract maps hardware to wallets on-chain — auditable and revocable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2043970" y="1345860"/>
            <a:ext cx="13716" cy="13716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08865" y="2070688"/>
            <a:ext cx="13716" cy="13716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1244805" y="5942646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4697944" y="3453023"/>
            <a:ext cx="27432" cy="27432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0824" y="6786078"/>
            <a:ext cx="27432" cy="27432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11474" y="281355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604402" y="3911448"/>
            <a:ext cx="27432" cy="27432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4616355" y="607496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220682" y="1554310"/>
            <a:ext cx="27432" cy="27432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073693" y="2265151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69081" y="2812900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547545" y="1649173"/>
            <a:ext cx="18288" cy="18288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95178" y="3799499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78710" y="892825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060941" y="3221069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304076" y="5607945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3516" y="4806821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829624" y="860665"/>
            <a:ext cx="18288" cy="18288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636009" y="3406889"/>
            <a:ext cx="18288" cy="18288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196305" y="2436690"/>
            <a:ext cx="18288" cy="18288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82540" y="2901482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748979" y="391735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2442" y="2436550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94014" y="3852802"/>
            <a:ext cx="18288" cy="18288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433396" y="4886855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92305" y="3640367"/>
            <a:ext cx="18288" cy="18288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263757" y="3361126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243021" y="1431344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430720" y="4437906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2011645" y="3829176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3101362" y="3292476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028523" y="833276"/>
            <a:ext cx="27432" cy="27432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52330" y="1410421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669302" y="1517358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476961" y="5279968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420185" y="1872826"/>
            <a:ext cx="13716" cy="13716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206908" y="2704209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85566" y="5144416"/>
            <a:ext cx="13716" cy="13716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05714" y="5175278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7985115" y="5621790"/>
            <a:ext cx="13716" cy="13716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0246568" y="2494866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756794" y="2892694"/>
            <a:ext cx="27432" cy="27432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264278" y="3059462"/>
            <a:ext cx="27432" cy="27432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226147" y="5609235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1172943" y="4903965"/>
            <a:ext cx="27432" cy="27432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02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Why Stellar?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1325880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Stellar provides everything needed for pay-by-tap at machine speed and near-zero cost.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19659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86968" y="20756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Near-Zero Fees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24231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~$0.00001 per operation — viable for ₱20 canteen meals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343400" y="19659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44568" y="20756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Fast Finality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44568" y="24231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3–5 second confirmations — faster than a receipt prints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001000" y="19659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202168" y="20756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Soroban Contracts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02168" y="24231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WASM smart contracts for the on-chain device registry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85800" y="33375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86968" y="34472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Fee Channels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86968" y="37947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Sponsored transactions absorb costs — users never buy XLM first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343400" y="33375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544568" y="34472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Real Assets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544568" y="37947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XLM, USDC, and issuer assets — spend and settle in stable value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01000" y="3337560"/>
            <a:ext cx="3429000" cy="1207008"/>
          </a:xfrm>
          <a:prstGeom prst="roundRect">
            <a:avLst>
              <a:gd name="adj" fmla="val 7545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202168" y="344728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0B429"/>
                </a:solidFill>
                <a:latin typeface="Bahnschrift"/>
              </a:rPr>
              <a:t>PDAX Fiat Bridge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202168" y="3794760"/>
            <a:ext cx="3063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Licensed PHP on/off-ramp — merchants cash out in pesos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4892040"/>
            <a:ext cx="6035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Architecture Principle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04088" y="5257800"/>
            <a:ext cx="6309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F2F2F2"/>
                </a:solidFill>
                <a:latin typeface="Segoe UI"/>
              </a:rPr>
              <a:t>Only hashed device references and payment operations go on-chain. </a:t>
            </a:r>
            <a:r>
              <a:rPr sz="1250" b="0" i="0">
                <a:solidFill>
                  <a:srgbClr val="B8B4AC"/>
                </a:solidFill>
                <a:latin typeface="Segoe UI"/>
              </a:rPr>
              <a:t>The terminal reads a tag UID, Soroban resolves the linked wallet, and Stellar settles the transfer — with PDAX converting to PHP for merchants who want pesos, not crypto.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269480" y="5074920"/>
            <a:ext cx="2103120" cy="1051560"/>
          </a:xfrm>
          <a:prstGeom prst="roundRect">
            <a:avLst>
              <a:gd name="adj" fmla="val 8217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452360" y="521208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0B429"/>
                </a:solidFill>
                <a:latin typeface="Bahnschrift"/>
              </a:rPr>
              <a:t>~$0.00001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452360" y="56692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Per transaction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509760" y="5074920"/>
            <a:ext cx="2103120" cy="1051560"/>
          </a:xfrm>
          <a:prstGeom prst="roundRect">
            <a:avLst>
              <a:gd name="adj" fmla="val 8217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9692640" y="5212080"/>
            <a:ext cx="1783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F0B429"/>
                </a:solidFill>
                <a:latin typeface="Bahnschrift"/>
              </a:rPr>
              <a:t>&lt; 2s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92640" y="5669280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Tap to “Paid”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803643" y="6335326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3122144" y="5908073"/>
            <a:ext cx="18288" cy="18288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74083" y="6354089"/>
            <a:ext cx="13716" cy="13716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712269" y="877530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710452" y="4993732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593737" y="4380341"/>
            <a:ext cx="27432" cy="27432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369121" y="2633915"/>
            <a:ext cx="27432" cy="27432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90724" y="64968"/>
            <a:ext cx="18288" cy="18288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705994" y="4218876"/>
            <a:ext cx="27432" cy="27432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362908" y="6514127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48278" y="5193012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85456" y="5442882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784708" y="2767488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36901" y="3248927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969127" y="3845553"/>
            <a:ext cx="13716" cy="13716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342808" y="2922124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44661" y="6061293"/>
            <a:ext cx="18288" cy="18288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242411" y="6293937"/>
            <a:ext cx="13716" cy="13716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3447785" y="6158557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588181" y="238581"/>
            <a:ext cx="27432" cy="27432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128241" y="1976851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5401" y="5313771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4851339" y="1146303"/>
            <a:ext cx="13716" cy="13716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217126" y="4778386"/>
            <a:ext cx="27432" cy="27432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233856" y="2894556"/>
            <a:ext cx="27432" cy="27432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683457" y="2652012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839856" y="6552659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501731" y="609625"/>
            <a:ext cx="18288" cy="18288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50762" y="4149967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586535" y="1844651"/>
            <a:ext cx="18288" cy="18288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67991" y="1153200"/>
            <a:ext cx="18288" cy="18288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2583942" y="993194"/>
            <a:ext cx="27432" cy="27432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498518" y="5774094"/>
            <a:ext cx="13716" cy="13716"/>
          </a:xfrm>
          <a:prstGeom prst="ellipse">
            <a:avLst/>
          </a:prstGeom>
          <a:solidFill>
            <a:srgbClr val="5D5D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183070" y="5950075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562408" y="4055677"/>
            <a:ext cx="27432" cy="27432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355128" y="3845838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437619" y="5337395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783008" y="2039294"/>
            <a:ext cx="18288" cy="18288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03196" y="4979369"/>
            <a:ext cx="27432" cy="27432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4425696" y="5775646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413074" y="1417421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254131" y="5266100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062938" y="2785072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5286467" y="6294709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765069" y="5229316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50292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How It Works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" y="132588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B8B4AC"/>
                </a:solidFill>
                <a:latin typeface="Segoe UI"/>
              </a:rPr>
              <a:t>One tap sets off the whole pipeline — the user never sees any of it.</a:t>
            </a:r>
          </a:p>
        </p:txBody>
      </p:sp>
      <p:sp>
        <p:nvSpPr>
          <p:cNvPr id="49" name="Pentagon 48"/>
          <p:cNvSpPr/>
          <p:nvPr/>
        </p:nvSpPr>
        <p:spPr>
          <a:xfrm>
            <a:off x="822960" y="1920240"/>
            <a:ext cx="6035040" cy="841248"/>
          </a:xfrm>
          <a:prstGeom prst="homePlate">
            <a:avLst/>
          </a:prstGeom>
          <a:solidFill>
            <a:srgbClr val="8A5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548640" rtlCol="0" anchor="ctr"/>
          <a:lstStyle/>
          <a:p>
            <a:pPr algn="l"/>
            <a:r>
              <a:rPr sz="1600" b="1">
                <a:solidFill>
                  <a:srgbClr val="F2F2F2"/>
                </a:solidFill>
                <a:latin typeface="Bahnschrift"/>
              </a:rPr>
              <a:t>1 · Tap   </a:t>
            </a:r>
            <a:r>
              <a:rPr sz="1200">
                <a:solidFill>
                  <a:srgbClr val="F2E2C4"/>
                </a:solidFill>
                <a:latin typeface="Segoe UI"/>
              </a:rPr>
              <a:t>Terminal reads the tag UID over NFC/RFID</a:t>
            </a:r>
          </a:p>
        </p:txBody>
      </p:sp>
      <p:sp>
        <p:nvSpPr>
          <p:cNvPr id="50" name="Pentagon 49"/>
          <p:cNvSpPr/>
          <p:nvPr/>
        </p:nvSpPr>
        <p:spPr>
          <a:xfrm>
            <a:off x="822960" y="2907792"/>
            <a:ext cx="7132320" cy="841248"/>
          </a:xfrm>
          <a:prstGeom prst="homePlate">
            <a:avLst/>
          </a:prstGeom>
          <a:solidFill>
            <a:srgbClr val="C07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548640" rtlCol="0" anchor="ctr"/>
          <a:lstStyle/>
          <a:p>
            <a:pPr algn="l"/>
            <a:r>
              <a:rPr sz="1600" b="1">
                <a:solidFill>
                  <a:srgbClr val="F2F2F2"/>
                </a:solidFill>
                <a:latin typeface="Bahnschrift"/>
              </a:rPr>
              <a:t>2 · Hash &amp; Resolve   </a:t>
            </a:r>
            <a:r>
              <a:rPr sz="1200">
                <a:solidFill>
                  <a:srgbClr val="F2E2C4"/>
                </a:solidFill>
                <a:latin typeface="Segoe UI"/>
              </a:rPr>
              <a:t>UID is SHA-256 hashed; device_registry resolves the wallet</a:t>
            </a:r>
          </a:p>
        </p:txBody>
      </p:sp>
      <p:sp>
        <p:nvSpPr>
          <p:cNvPr id="51" name="Pentagon 50"/>
          <p:cNvSpPr/>
          <p:nvPr/>
        </p:nvSpPr>
        <p:spPr>
          <a:xfrm>
            <a:off x="822960" y="3895344"/>
            <a:ext cx="8229600" cy="841248"/>
          </a:xfrm>
          <a:prstGeom prst="homePlate">
            <a:avLst/>
          </a:prstGeom>
          <a:solidFill>
            <a:srgbClr val="E0A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548640" rtlCol="0" anchor="ctr"/>
          <a:lstStyle/>
          <a:p>
            <a:pPr algn="l"/>
            <a:r>
              <a:rPr sz="1600" b="1">
                <a:solidFill>
                  <a:srgbClr val="140F02"/>
                </a:solidFill>
                <a:latin typeface="Bahnschrift"/>
              </a:rPr>
              <a:t>3 · Debit the Agent   </a:t>
            </a:r>
            <a:r>
              <a:rPr sz="1200">
                <a:solidFill>
                  <a:srgbClr val="3A2C08"/>
                </a:solidFill>
                <a:latin typeface="Segoe UI"/>
              </a:rPr>
              <a:t>The device's x402 agent wallet signs within its daily limit</a:t>
            </a:r>
          </a:p>
        </p:txBody>
      </p:sp>
      <p:sp>
        <p:nvSpPr>
          <p:cNvPr id="52" name="Pentagon 51"/>
          <p:cNvSpPr/>
          <p:nvPr/>
        </p:nvSpPr>
        <p:spPr>
          <a:xfrm>
            <a:off x="822960" y="4882896"/>
            <a:ext cx="9326880" cy="841248"/>
          </a:xfrm>
          <a:prstGeom prst="homePlate">
            <a:avLst/>
          </a:prstGeom>
          <a:solidFill>
            <a:srgbClr val="F5C4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rIns="548640" rtlCol="0" anchor="ctr"/>
          <a:lstStyle/>
          <a:p>
            <a:pPr algn="l"/>
            <a:r>
              <a:rPr sz="1600" b="1">
                <a:solidFill>
                  <a:srgbClr val="140F02"/>
                </a:solidFill>
                <a:latin typeface="Bahnschrift"/>
              </a:rPr>
              <a:t>4 · Settle &amp; Cash Out   </a:t>
            </a:r>
            <a:r>
              <a:rPr sz="1200">
                <a:solidFill>
                  <a:srgbClr val="3A2C08"/>
                </a:solidFill>
                <a:latin typeface="Segoe UI"/>
              </a:rPr>
              <a:t>Stellar finalizes in 3–5s; PDAX bridges to PHP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" y="5943600"/>
            <a:ext cx="1078992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B8B4AC"/>
                </a:solidFill>
                <a:latin typeface="Segoe UI"/>
              </a:rPr>
              <a:t>The gateway returns 202 Accepted instantly and settles asynchronously — </a:t>
            </a:r>
            <a:r>
              <a:rPr sz="1350" b="1" i="0">
                <a:solidFill>
                  <a:srgbClr val="F2F2F2"/>
                </a:solidFill>
                <a:latin typeface="Segoe UI"/>
              </a:rPr>
              <a:t>under two seconds from tap to “Paid”</a:t>
            </a:r>
            <a:r>
              <a:rPr sz="1350" b="0" i="0">
                <a:solidFill>
                  <a:srgbClr val="B8B4AC"/>
                </a:solidFill>
                <a:latin typeface="Segoe UI"/>
              </a:rPr>
              <a:t> — with an offline queue that batches transactions when the network drops.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973348" y="1649304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5806133" y="3826042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773543" y="4325001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376581" y="194432"/>
            <a:ext cx="13716" cy="13716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61169" y="1311460"/>
            <a:ext cx="13716" cy="13716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041413" y="804500"/>
            <a:ext cx="13716" cy="13716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509978" y="1405727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86905" y="1372505"/>
            <a:ext cx="13716" cy="13716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57968" y="3694712"/>
            <a:ext cx="18288" cy="18288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018180" y="5096410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033258" y="5674046"/>
            <a:ext cx="13716" cy="13716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315211" y="4300440"/>
            <a:ext cx="13716" cy="13716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84325" y="3632838"/>
            <a:ext cx="13716" cy="13716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531720" y="3641381"/>
            <a:ext cx="27432" cy="27432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758002" y="5062229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548488" y="240695"/>
            <a:ext cx="13716" cy="13716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481050" y="2455518"/>
            <a:ext cx="27432" cy="27432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121554" y="3456531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60209" y="4462170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60546" y="2045296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283766" y="6276851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667" y="5446042"/>
            <a:ext cx="27432" cy="27432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546375" y="1645274"/>
            <a:ext cx="13716" cy="13716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83216" y="2676393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774509" y="930114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1115" y="589507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05944" y="6571708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114277" y="2600310"/>
            <a:ext cx="27432" cy="27432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927143" y="2861958"/>
            <a:ext cx="27432" cy="27432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293858" y="6071853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059740" y="3709866"/>
            <a:ext cx="27432" cy="27432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654270" y="125511"/>
            <a:ext cx="18288" cy="18288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34655" y="5041454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029904" y="749505"/>
            <a:ext cx="13716" cy="13716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12943" y="2915779"/>
            <a:ext cx="27432" cy="27432"/>
          </a:xfrm>
          <a:prstGeom prst="ellipse">
            <a:avLst/>
          </a:prstGeom>
          <a:solidFill>
            <a:srgbClr val="3E3E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685299" y="3156393"/>
            <a:ext cx="27432" cy="27432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476562" y="5269559"/>
            <a:ext cx="27432" cy="27432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5219403" y="1721595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943692" y="6267378"/>
            <a:ext cx="27432" cy="27432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202962" y="6856583"/>
            <a:ext cx="18288" cy="18288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359733" y="4495230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516304" y="6646634"/>
            <a:ext cx="27432" cy="27432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831200" y="6003346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3769468" y="541024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768244" y="2465866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57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System Architecture</a:t>
            </a:r>
          </a:p>
        </p:txBody>
      </p:sp>
      <p:pic>
        <p:nvPicPr>
          <p:cNvPr id="48" name="Picture 47" descr="agents_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00200"/>
            <a:ext cx="2271878" cy="48463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3931920" y="1417320"/>
            <a:ext cx="5486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Three Core Layers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931920" y="1874519"/>
            <a:ext cx="7543800" cy="1115568"/>
          </a:xfrm>
          <a:prstGeom prst="roundRect">
            <a:avLst>
              <a:gd name="adj" fmla="val 7918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3931920" y="1984248"/>
            <a:ext cx="64008" cy="896112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24528" y="1984248"/>
            <a:ext cx="7040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device_registry · Soroban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224528" y="2377439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Hardware-to-wallet mapping with terminal whitelisting and per-device replay protection on-chain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931920" y="3118104"/>
            <a:ext cx="7543800" cy="1115568"/>
          </a:xfrm>
          <a:prstGeom prst="roundRect">
            <a:avLst>
              <a:gd name="adj" fmla="val 7918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3931920" y="3227832"/>
            <a:ext cx="64008" cy="896112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224528" y="3227832"/>
            <a:ext cx="7040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Payment Gateway · Rust + actix-web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224528" y="3621024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Async payment queue, fee channels, daily-limit enforcement, and idempotent transaction records in PostgreSQL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931920" y="4361688"/>
            <a:ext cx="7543800" cy="1115568"/>
          </a:xfrm>
          <a:prstGeom prst="roundRect">
            <a:avLst>
              <a:gd name="adj" fmla="val 7918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931920" y="4471416"/>
            <a:ext cx="64008" cy="896112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4224528" y="4471416"/>
            <a:ext cx="7040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F2F2F2"/>
                </a:solidFill>
                <a:latin typeface="Bahnschrift"/>
              </a:rPr>
              <a:t>PDAX Fiat Bridge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224528" y="4864608"/>
            <a:ext cx="7040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Licensed Philippine exchange integration — auto-liquidation webhooks convert merchant USDC to PHP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931920" y="5650992"/>
            <a:ext cx="7543800" cy="868680"/>
          </a:xfrm>
          <a:prstGeom prst="roundRect">
            <a:avLst>
              <a:gd name="adj" fmla="val 9315"/>
            </a:avLst>
          </a:prstGeom>
          <a:solidFill>
            <a:srgbClr val="1A2233"/>
          </a:solidFill>
          <a:ln w="13970">
            <a:solidFill>
              <a:srgbClr val="1A22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37160" rtlCol="0" anchor="ctr"/>
          <a:lstStyle/>
          <a:p>
            <a:pPr algn="ctr">
              <a:lnSpc>
                <a:spcPct val="110000"/>
              </a:lnSpc>
            </a:pPr>
            <a:r>
              <a:rPr sz="1250" b="1">
                <a:solidFill>
                  <a:srgbClr val="F2F2F2"/>
                </a:solidFill>
                <a:latin typeface="Segoe UI"/>
              </a:rPr>
              <a:t>Only SHA-256 device hashes touch the chain. </a:t>
            </a:r>
            <a:r>
              <a:rPr sz="1250">
                <a:solidFill>
                  <a:srgbClr val="C8D4E8"/>
                </a:solidFill>
                <a:latin typeface="Segoe UI"/>
              </a:rPr>
              <a:t>Raw card UIDs never leave the terminal, and no custodial server ever holds user funds.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7657199" y="2282397"/>
            <a:ext cx="18288" cy="18288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13332" y="5269966"/>
            <a:ext cx="27432" cy="27432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5394815" y="929305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05773" y="1188626"/>
            <a:ext cx="27432" cy="27432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5267426" y="956620"/>
            <a:ext cx="18288" cy="18288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3652248" y="5907023"/>
            <a:ext cx="13716" cy="13716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97361" y="1697061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89802" y="102581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120307" y="3111095"/>
            <a:ext cx="27432" cy="27432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412062" y="4837346"/>
            <a:ext cx="13716" cy="13716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711341" y="463818"/>
            <a:ext cx="18288" cy="18288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7459" y="865856"/>
            <a:ext cx="18288" cy="18288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03918" y="141940"/>
            <a:ext cx="27432" cy="27432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357504" y="584856"/>
            <a:ext cx="13716" cy="13716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562149" y="6691732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93843" y="3186311"/>
            <a:ext cx="27432" cy="27432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74597" y="4274651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2727390" y="4712191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147112" y="2828330"/>
            <a:ext cx="27432" cy="27432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2353167" y="2975210"/>
            <a:ext cx="27432" cy="27432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4048" y="236320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044271" y="4773735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305" y="362023"/>
            <a:ext cx="18288" cy="18288"/>
          </a:xfrm>
          <a:prstGeom prst="ellipse">
            <a:avLst/>
          </a:prstGeom>
          <a:solidFill>
            <a:srgbClr val="4B4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8990" y="3834724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736958" y="117286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034740" y="314111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338713" y="928998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335187" y="4245625"/>
            <a:ext cx="18288" cy="18288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2212255" y="6034261"/>
            <a:ext cx="27432" cy="27432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109581" y="14141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569077" y="2677425"/>
            <a:ext cx="13716" cy="13716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737169" y="5099885"/>
            <a:ext cx="13716" cy="13716"/>
          </a:xfrm>
          <a:prstGeom prst="ellipse">
            <a:avLst/>
          </a:prstGeom>
          <a:solidFill>
            <a:srgbClr val="5C5C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77392" y="2642529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76854" y="6305691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7786987" y="2745683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086212" y="4366144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713335" y="1091443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6660977" y="4756972"/>
            <a:ext cx="18288" cy="18288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3200388" y="3562154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934004" y="1409448"/>
            <a:ext cx="27432" cy="27432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33132" y="6715329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3192933" y="2085146"/>
            <a:ext cx="18288" cy="18288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7516861" y="3279596"/>
            <a:ext cx="18288" cy="18288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042010" y="6561015"/>
            <a:ext cx="13716" cy="13716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289515" y="2295563"/>
            <a:ext cx="18288" cy="18288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0E0C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8015630" y="1325880"/>
            <a:ext cx="4206240" cy="4206240"/>
          </a:xfrm>
          <a:prstGeom prst="ellipse">
            <a:avLst/>
          </a:prstGeom>
          <a:noFill/>
          <a:ln w="15240">
            <a:solidFill>
              <a:srgbClr val="241C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518550" y="1828800"/>
            <a:ext cx="3200400" cy="3200400"/>
          </a:xfrm>
          <a:prstGeom prst="ellipse">
            <a:avLst/>
          </a:prstGeom>
          <a:noFill/>
          <a:ln w="15240">
            <a:solidFill>
              <a:srgbClr val="3025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9021470" y="2331720"/>
            <a:ext cx="2194560" cy="2194560"/>
          </a:xfrm>
          <a:prstGeom prst="ellipse">
            <a:avLst/>
          </a:prstGeom>
          <a:noFill/>
          <a:ln w="15240">
            <a:solidFill>
              <a:srgbClr val="3E2F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9409176" y="2715768"/>
            <a:ext cx="1426464" cy="1426464"/>
          </a:xfrm>
          <a:prstGeom prst="ellipse">
            <a:avLst/>
          </a:prstGeom>
          <a:solidFill>
            <a:srgbClr val="181306"/>
          </a:solidFill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000"/>
              <a:t>🔒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4434840"/>
            <a:ext cx="37764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0B429"/>
                </a:solidFill>
                <a:latin typeface="Bahnschrift"/>
              </a:rPr>
              <a:t>DEFENSE IN DEPTH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457200"/>
            <a:ext cx="73152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2F2F2"/>
                </a:solidFill>
                <a:latin typeface="Bahnschrift"/>
              </a:rPr>
              <a:t>Security-First Design</a:t>
            </a:r>
          </a:p>
        </p:txBody>
      </p:sp>
      <p:sp>
        <p:nvSpPr>
          <p:cNvPr id="54" name="Oval 53"/>
          <p:cNvSpPr/>
          <p:nvPr/>
        </p:nvSpPr>
        <p:spPr>
          <a:xfrm>
            <a:off x="749808" y="1527048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25880" y="1444752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Hashed Device Identity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325880" y="1810512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Tag UIDs are SHA-256 hashed at the terminal — the raw UID is never stored or transmitted</a:t>
            </a:r>
          </a:p>
        </p:txBody>
      </p:sp>
      <p:sp>
        <p:nvSpPr>
          <p:cNvPr id="57" name="Oval 56"/>
          <p:cNvSpPr/>
          <p:nvPr/>
        </p:nvSpPr>
        <p:spPr>
          <a:xfrm>
            <a:off x="749808" y="2560320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5880" y="2478024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Terminal Authentication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325880" y="2843784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Only whitelisted POS terminals can initiate payments, via API keys and signed challenges</a:t>
            </a:r>
          </a:p>
        </p:txBody>
      </p:sp>
      <p:sp>
        <p:nvSpPr>
          <p:cNvPr id="60" name="Oval 59"/>
          <p:cNvSpPr/>
          <p:nvPr/>
        </p:nvSpPr>
        <p:spPr>
          <a:xfrm>
            <a:off x="749808" y="3593591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25880" y="3511296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Replay Protection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25880" y="3877056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Every tap carries a signed nonce; 500ms anti-double-tap rate limiting per device</a:t>
            </a:r>
          </a:p>
        </p:txBody>
      </p:sp>
      <p:sp>
        <p:nvSpPr>
          <p:cNvPr id="63" name="Oval 62"/>
          <p:cNvSpPr/>
          <p:nvPr/>
        </p:nvSpPr>
        <p:spPr>
          <a:xfrm>
            <a:off x="749808" y="4626864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25880" y="4544568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Blast-Radius Limits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325880" y="4910328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Per-device daily limits and isolated x402 agent wallets — a lost tag never exposes main funds</a:t>
            </a:r>
          </a:p>
        </p:txBody>
      </p:sp>
      <p:sp>
        <p:nvSpPr>
          <p:cNvPr id="66" name="Oval 65"/>
          <p:cNvSpPr/>
          <p:nvPr/>
        </p:nvSpPr>
        <p:spPr>
          <a:xfrm>
            <a:off x="749808" y="5660136"/>
            <a:ext cx="365760" cy="365760"/>
          </a:xfrm>
          <a:prstGeom prst="ellipse">
            <a:avLst/>
          </a:prstGeom>
          <a:noFill/>
          <a:ln w="19050">
            <a:solidFill>
              <a:srgbClr val="F0B4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0B429"/>
                </a:solidFill>
              </a:rPr>
              <a:t>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325880" y="5577840"/>
            <a:ext cx="6492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 i="0">
                <a:solidFill>
                  <a:srgbClr val="F2F2F2"/>
                </a:solidFill>
                <a:latin typeface="Bahnschrift"/>
              </a:rPr>
              <a:t>Encrypted Key Custody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25880" y="5943600"/>
            <a:ext cx="6492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B8B4AC"/>
                </a:solidFill>
                <a:latin typeface="Segoe UI"/>
              </a:rPr>
              <a:t>Fee-channel and agent keys sealed with envelope encryption (KMS-backed KeyManager)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642020" y="4110953"/>
            <a:ext cx="18288" cy="18288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624475" y="593755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471505" y="4803948"/>
            <a:ext cx="18288" cy="18288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5965091" y="2891602"/>
            <a:ext cx="27432" cy="27432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2641846" y="6185911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503050" y="1457948"/>
            <a:ext cx="18288" cy="18288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182325" y="3887903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45946" y="5311339"/>
            <a:ext cx="27432" cy="27432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908653" y="1847539"/>
            <a:ext cx="18288" cy="18288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2484233" y="6786470"/>
            <a:ext cx="18288" cy="18288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633619" y="6173861"/>
            <a:ext cx="13716" cy="13716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907773" y="2451905"/>
            <a:ext cx="18288" cy="18288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960570" y="5430432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507870" y="4528335"/>
            <a:ext cx="13716" cy="13716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284113" y="3248818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19747" y="4334356"/>
            <a:ext cx="13716" cy="13716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527041" y="2613319"/>
            <a:ext cx="18288" cy="18288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941663" y="6171995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2577753" y="1766460"/>
            <a:ext cx="27432" cy="27432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313525" y="4766302"/>
            <a:ext cx="13716" cy="13716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004226" y="4926537"/>
            <a:ext cx="13716" cy="13716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475108" y="852908"/>
            <a:ext cx="27432" cy="27432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3608422" y="6797111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1266758" y="6037993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728553" y="5802728"/>
            <a:ext cx="18288" cy="18288"/>
          </a:xfrm>
          <a:prstGeom prst="ellipse">
            <a:avLst/>
          </a:prstGeom>
          <a:solidFill>
            <a:srgbClr val="3F3F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2267069" y="496446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7140584" y="326973"/>
            <a:ext cx="13716" cy="13716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865715" y="5639793"/>
            <a:ext cx="18288" cy="18288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5048156" y="2544157"/>
            <a:ext cx="18288" cy="18288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723429" y="6330181"/>
            <a:ext cx="13716" cy="13716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397622" y="1578778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965610" y="2130481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3827373" y="5239465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675804" y="2630417"/>
            <a:ext cx="27432" cy="27432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759444" y="2887966"/>
            <a:ext cx="13716" cy="13716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6134259" y="6221616"/>
            <a:ext cx="13716" cy="13716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501149" y="6376779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747940" y="2807202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943597" y="2598898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0517857" y="4242786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2370942" y="2310097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52562" y="2436573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0866810" y="4579887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8011974" y="5095604"/>
            <a:ext cx="18288" cy="18288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4977208" y="5909897"/>
            <a:ext cx="13716" cy="13716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11480"/>
            <a:ext cx="11155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2F2F2"/>
                </a:solidFill>
                <a:latin typeface="Bahnschrift"/>
              </a:rPr>
              <a:t>Market Opportunity &amp; Competitive Advantage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132588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Target Venues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85800" y="1828800"/>
            <a:ext cx="2377440" cy="1417320"/>
          </a:xfrm>
          <a:prstGeom prst="roundRect">
            <a:avLst>
              <a:gd name="adj" fmla="val 6870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50392" y="1956816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F2F2"/>
                </a:solidFill>
                <a:latin typeface="Bahnschrift"/>
              </a:rPr>
              <a:t>Transit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" y="2395728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Turnstile-speed fares,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no queue pileups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0" y="1828800"/>
            <a:ext cx="2377440" cy="1417320"/>
          </a:xfrm>
          <a:prstGeom prst="roundRect">
            <a:avLst>
              <a:gd name="adj" fmla="val 6870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364992" y="1956816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F2F2"/>
                </a:solidFill>
                <a:latin typeface="Bahnschrift"/>
              </a:rPr>
              <a:t>Campus Canteens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64992" y="2395728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Lunch-rush throughput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with student ID stickers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85800" y="3383280"/>
            <a:ext cx="2377440" cy="1417320"/>
          </a:xfrm>
          <a:prstGeom prst="roundRect">
            <a:avLst>
              <a:gd name="adj" fmla="val 6870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50392" y="3511296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F2F2"/>
                </a:solidFill>
                <a:latin typeface="Bahnschrift"/>
              </a:rPr>
              <a:t>Event Gates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" y="3950208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Wristband entry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and cashless concessions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00400" y="3383280"/>
            <a:ext cx="2377440" cy="1417320"/>
          </a:xfrm>
          <a:prstGeom prst="roundRect">
            <a:avLst>
              <a:gd name="adj" fmla="val 6870"/>
            </a:avLst>
          </a:prstGeom>
          <a:solidFill>
            <a:srgbClr val="14120C"/>
          </a:solidFill>
          <a:ln w="13970">
            <a:solidFill>
              <a:srgbClr val="E0A8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3364992" y="3511296"/>
            <a:ext cx="20574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2F2F2"/>
                </a:solidFill>
                <a:latin typeface="Bahnschrift"/>
              </a:rPr>
              <a:t>Retail Checkout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64992" y="3950208"/>
            <a:ext cx="20574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Sub-cent fees instead</a:t>
            </a:r>
          </a:p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B8B4AC"/>
                </a:solidFill>
                <a:latin typeface="Segoe UI"/>
              </a:rPr>
              <a:t>of 2–3% card rails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5120640"/>
            <a:ext cx="5120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0B429"/>
                </a:solidFill>
                <a:latin typeface="Segoe UI"/>
              </a:rPr>
              <a:t>₱</a:t>
            </a:r>
            <a:r>
              <a:rPr sz="1300" b="1" i="0">
                <a:solidFill>
                  <a:srgbClr val="F2F2F2"/>
                </a:solidFill>
                <a:latin typeface="Segoe UI"/>
              </a:rPr>
              <a:t>100B+ QR/contactless volume in PH alone. </a:t>
            </a:r>
            <a:r>
              <a:rPr sz="1300" b="0" i="0">
                <a:solidFill>
                  <a:srgbClr val="B8B4AC"/>
                </a:solidFill>
                <a:latin typeface="Segoe UI"/>
              </a:rPr>
              <a:t>Every cashless venue that hates checkout queues is a Noir venue.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26480" y="1325880"/>
            <a:ext cx="4572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How We Compare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106102"/>
              </p:ext>
            </p:extLst>
          </p:nvPr>
        </p:nvGraphicFramePr>
        <p:xfrm>
          <a:off x="6126480" y="1828799"/>
          <a:ext cx="4792806" cy="4222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07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78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359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Feature</a:t>
                      </a:r>
                    </a:p>
                  </a:txBody>
                  <a:tcPr marL="73152" marR="36576" marT="18288" marB="18288" anchor="ctr">
                    <a:solidFill>
                      <a:srgbClr val="1E18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EMV Tap</a:t>
                      </a:r>
                    </a:p>
                  </a:txBody>
                  <a:tcPr marL="73152" marR="36576" marT="18288" marB="18288" anchor="ctr">
                    <a:solidFill>
                      <a:srgbClr val="1E18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2F2F2"/>
                          </a:solidFill>
                          <a:latin typeface="Segoe UI"/>
                        </a:rPr>
                        <a:t>Apple
Pay</a:t>
                      </a:r>
                    </a:p>
                  </a:txBody>
                  <a:tcPr marL="73152" marR="36576" marT="18288" marB="18288" anchor="ctr">
                    <a:solidFill>
                      <a:srgbClr val="1E18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2F2F2"/>
                          </a:solidFill>
                          <a:latin typeface="Segoe UI"/>
                        </a:rPr>
                        <a:t>Noir
Wallet</a:t>
                      </a:r>
                    </a:p>
                  </a:txBody>
                  <a:tcPr marL="73152" marR="36576" marT="18288" marB="18288" anchor="ctr">
                    <a:solidFill>
                      <a:srgbClr val="1E18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No phone unlock needed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Self-custody of funds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Sub-cent transaction fees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Settlement in seconds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Stickers &amp; wearables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Per-device spend limits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512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7864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F2F2F2"/>
                          </a:solidFill>
                          <a:latin typeface="Segoe UI"/>
                        </a:rPr>
                        <a:t>Open smart contracts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B8B4AC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F0B429"/>
                          </a:solidFill>
                          <a:latin typeface="Segoe UI"/>
                        </a:rPr>
                        <a:t>✓</a:t>
                      </a:r>
                    </a:p>
                  </a:txBody>
                  <a:tcPr marL="73152" marR="36576" marT="18288" marB="18288" anchor="ctr">
                    <a:solidFill>
                      <a:srgbClr val="100E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88113" y="4115860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98941" y="4375976"/>
            <a:ext cx="18288" cy="18288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636189" y="3437229"/>
            <a:ext cx="13716" cy="13716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943707" y="6257258"/>
            <a:ext cx="13716" cy="13716"/>
          </a:xfrm>
          <a:prstGeom prst="ellipse">
            <a:avLst/>
          </a:prstGeom>
          <a:solidFill>
            <a:srgbClr val="4141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08661" y="3625515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667893" y="1586493"/>
            <a:ext cx="27432" cy="27432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430209" y="741509"/>
            <a:ext cx="18288" cy="18288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474837" y="3140218"/>
            <a:ext cx="27432" cy="27432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2369340" y="2816769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5504194" y="5858717"/>
            <a:ext cx="13716" cy="13716"/>
          </a:xfrm>
          <a:prstGeom prst="ellipse">
            <a:avLst/>
          </a:prstGeom>
          <a:solidFill>
            <a:srgbClr val="5757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016256" y="1129647"/>
            <a:ext cx="18288" cy="18288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031782" y="6528397"/>
            <a:ext cx="13716" cy="13716"/>
          </a:xfrm>
          <a:prstGeom prst="ellipse">
            <a:avLst/>
          </a:prstGeom>
          <a:solidFill>
            <a:srgbClr val="43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274102" y="5093801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895400" y="1451262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907150" y="4990684"/>
            <a:ext cx="18288" cy="18288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47297" y="6464464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07669" y="2219721"/>
            <a:ext cx="27432" cy="27432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2084668" y="3381060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314783" y="758044"/>
            <a:ext cx="13716" cy="13716"/>
          </a:xfrm>
          <a:prstGeom prst="ellipse">
            <a:avLst/>
          </a:prstGeom>
          <a:solidFill>
            <a:srgbClr val="3939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675727" y="4845247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90269" y="3810857"/>
            <a:ext cx="13716" cy="13716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302353" y="3543211"/>
            <a:ext cx="18288" cy="18288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7141363" y="503244"/>
            <a:ext cx="27432" cy="27432"/>
          </a:xfrm>
          <a:prstGeom prst="ellipse">
            <a:avLst/>
          </a:prstGeom>
          <a:solidFill>
            <a:srgbClr val="3A3A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454272" y="74101"/>
            <a:ext cx="27432" cy="27432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664905" y="825493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141931" y="47314"/>
            <a:ext cx="13716" cy="13716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2291766" y="6817736"/>
            <a:ext cx="18288" cy="18288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470020" y="1865160"/>
            <a:ext cx="27432" cy="27432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1946145" y="5582459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2849195" y="4298481"/>
            <a:ext cx="27432" cy="27432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7637569" y="5075273"/>
            <a:ext cx="18288" cy="18288"/>
          </a:xfrm>
          <a:prstGeom prst="ellipse">
            <a:avLst/>
          </a:prstGeom>
          <a:solidFill>
            <a:srgbClr val="4A4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037683" y="3539213"/>
            <a:ext cx="13716" cy="13716"/>
          </a:xfrm>
          <a:prstGeom prst="ellipse">
            <a:avLst/>
          </a:prstGeom>
          <a:solidFill>
            <a:srgbClr val="5555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60684" y="275475"/>
            <a:ext cx="13716" cy="13716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940193" y="3749814"/>
            <a:ext cx="13716" cy="13716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3581719" y="1799522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789826" y="1329344"/>
            <a:ext cx="13716" cy="13716"/>
          </a:xfrm>
          <a:prstGeom prst="ellipse">
            <a:avLst/>
          </a:prstGeom>
          <a:solidFill>
            <a:srgbClr val="4545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4644386" y="6323497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799288" y="2831349"/>
            <a:ext cx="13716" cy="13716"/>
          </a:xfrm>
          <a:prstGeom prst="ellipse">
            <a:avLst/>
          </a:prstGeom>
          <a:solidFill>
            <a:srgbClr val="3D3D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312940" y="5296279"/>
            <a:ext cx="13716" cy="13716"/>
          </a:xfrm>
          <a:prstGeom prst="ellipse">
            <a:avLst/>
          </a:prstGeom>
          <a:solidFill>
            <a:srgbClr val="4646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6125822" y="1600608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325499" y="1382225"/>
            <a:ext cx="27432" cy="27432"/>
          </a:xfrm>
          <a:prstGeom prst="ellipse">
            <a:avLst/>
          </a:prstGeom>
          <a:solidFill>
            <a:srgbClr val="5858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65770" y="5955417"/>
            <a:ext cx="27432" cy="27432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4900859" y="2382402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849604" y="4182285"/>
            <a:ext cx="27432" cy="27432"/>
          </a:xfrm>
          <a:prstGeom prst="ellipse">
            <a:avLst/>
          </a:prstGeom>
          <a:solidFill>
            <a:srgbClr val="404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2271234" y="5217535"/>
            <a:ext cx="18288" cy="18288"/>
          </a:xfrm>
          <a:prstGeom prst="ellipse">
            <a:avLst/>
          </a:prstGeom>
          <a:solidFill>
            <a:srgbClr val="4949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8580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2F2F2"/>
                </a:solidFill>
                <a:latin typeface="Bahnschrift"/>
              </a:rPr>
              <a:t>Business Model &amp; Roadmap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1417320"/>
            <a:ext cx="4937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Revenue Streams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13232" y="1965960"/>
            <a:ext cx="54864" cy="7772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60120" y="19202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Bahnschrift"/>
              </a:rPr>
              <a:t>Merchant Transaction Fees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" y="228600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A fraction of card-rail pricing — volume over margin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" y="3017520"/>
            <a:ext cx="54864" cy="7772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60120" y="297180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Bahnschrift"/>
              </a:rPr>
              <a:t>Device &amp; Tag Sales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" y="333756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Branded NFC cards, stickers, and wearables for venues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13232" y="4069080"/>
            <a:ext cx="54864" cy="7772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60120" y="4023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Bahnschrift"/>
              </a:rPr>
              <a:t>PDAX Conversion Spread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" y="438912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Small margin on automated USDC → PHP liquidation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5120640"/>
            <a:ext cx="54864" cy="777240"/>
          </a:xfrm>
          <a:prstGeom prst="rect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60120" y="507492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F2F2F2"/>
                </a:solidFill>
                <a:latin typeface="Bahnschrift"/>
              </a:rPr>
              <a:t>Enterprise &amp; Developer APIs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5440680"/>
            <a:ext cx="4754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 i="0">
                <a:solidFill>
                  <a:srgbClr val="B8B4AC"/>
                </a:solidFill>
                <a:latin typeface="Segoe UI"/>
              </a:rPr>
              <a:t>White-label tap-to-pay for transit operators and campuses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0" y="141732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2F2F2"/>
                </a:solidFill>
                <a:latin typeface="Bahnschrift"/>
              </a:rPr>
              <a:t>Roadmap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485632" y="1965960"/>
            <a:ext cx="18288" cy="4297680"/>
          </a:xfrm>
          <a:prstGeom prst="rect">
            <a:avLst/>
          </a:prstGeom>
          <a:solidFill>
            <a:srgbClr val="3A3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8403336" y="2148840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89320" y="20574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Q3 2026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617720" y="2441448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B8B4AC"/>
                </a:solidFill>
                <a:latin typeface="Segoe UI"/>
              </a:rPr>
              <a:t>PDAX production integration, terminal authentication, mainnet pilot with first venues</a:t>
            </a:r>
          </a:p>
        </p:txBody>
      </p:sp>
      <p:sp>
        <p:nvSpPr>
          <p:cNvPr id="66" name="Oval 65"/>
          <p:cNvSpPr/>
          <p:nvPr/>
        </p:nvSpPr>
        <p:spPr>
          <a:xfrm>
            <a:off x="8403336" y="3227832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796528" y="3136391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Q4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96528" y="3520439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B8B4AC"/>
                </a:solidFill>
                <a:latin typeface="Segoe UI"/>
              </a:rPr>
              <a:t>Offline queue + batch settlement, merchant dashboard, spending analytics</a:t>
            </a:r>
          </a:p>
        </p:txBody>
      </p:sp>
      <p:sp>
        <p:nvSpPr>
          <p:cNvPr id="69" name="Oval 68"/>
          <p:cNvSpPr/>
          <p:nvPr/>
        </p:nvSpPr>
        <p:spPr>
          <a:xfrm>
            <a:off x="8403336" y="4306823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89320" y="4215383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2027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17720" y="4599431"/>
            <a:ext cx="36576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100" b="0" i="0">
                <a:solidFill>
                  <a:srgbClr val="B8B4AC"/>
                </a:solidFill>
                <a:latin typeface="Segoe UI"/>
              </a:rPr>
              <a:t>Transit &amp; campus partnerships, wearable product line, multi-asset auto-conversion</a:t>
            </a:r>
          </a:p>
        </p:txBody>
      </p:sp>
      <p:sp>
        <p:nvSpPr>
          <p:cNvPr id="72" name="Oval 71"/>
          <p:cNvSpPr/>
          <p:nvPr/>
        </p:nvSpPr>
        <p:spPr>
          <a:xfrm>
            <a:off x="8403336" y="5385815"/>
            <a:ext cx="182880" cy="182880"/>
          </a:xfrm>
          <a:prstGeom prst="ellipse">
            <a:avLst/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796528" y="5294375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2F2F2"/>
                </a:solidFill>
                <a:latin typeface="Bahnschrift"/>
              </a:rPr>
              <a:t>Future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796528" y="5678423"/>
            <a:ext cx="3017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B8B4AC"/>
                </a:solidFill>
                <a:latin typeface="Segoe UI"/>
              </a:rPr>
              <a:t>Cross-chain agents, x402 ecosystem APIs, machine-to-machine payments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2659639" y="5989500"/>
            <a:ext cx="13716" cy="13716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491567" y="3583473"/>
            <a:ext cx="13716" cy="13716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50872" y="4369440"/>
            <a:ext cx="18288" cy="18288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857756" y="5981020"/>
            <a:ext cx="27432" cy="27432"/>
          </a:xfrm>
          <a:prstGeom prst="ellipse">
            <a:avLst/>
          </a:prstGeom>
          <a:solidFill>
            <a:srgbClr val="5E5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821208" y="167319"/>
            <a:ext cx="18288" cy="18288"/>
          </a:xfrm>
          <a:prstGeom prst="ellipse">
            <a:avLst/>
          </a:prstGeom>
          <a:solidFill>
            <a:srgbClr val="5353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5499883" y="1572791"/>
            <a:ext cx="18288" cy="18288"/>
          </a:xfrm>
          <a:prstGeom prst="ellipse">
            <a:avLst/>
          </a:prstGeom>
          <a:solidFill>
            <a:srgbClr val="4E4E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239313" y="791773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209319" y="3350063"/>
            <a:ext cx="27432" cy="27432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368016" y="152109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463964" y="5051042"/>
            <a:ext cx="18288" cy="18288"/>
          </a:xfrm>
          <a:prstGeom prst="ellipse">
            <a:avLst/>
          </a:prstGeom>
          <a:solidFill>
            <a:srgbClr val="5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833279" y="5943432"/>
            <a:ext cx="13716" cy="13716"/>
          </a:xfrm>
          <a:prstGeom prst="ellipse">
            <a:avLst/>
          </a:prstGeom>
          <a:solidFill>
            <a:srgbClr val="383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147550" y="3864197"/>
            <a:ext cx="27432" cy="27432"/>
          </a:xfrm>
          <a:prstGeom prst="ellipse">
            <a:avLst/>
          </a:prstGeom>
          <a:solidFill>
            <a:srgbClr val="5A5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647827" y="5167011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66568" y="4882876"/>
            <a:ext cx="13716" cy="13716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005056" y="3956627"/>
            <a:ext cx="13716" cy="13716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781112" y="1239950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03349" y="1249336"/>
            <a:ext cx="27432" cy="27432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380870" y="5429460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095625" y="5478732"/>
            <a:ext cx="27432" cy="27432"/>
          </a:xfrm>
          <a:prstGeom prst="ellipse">
            <a:avLst/>
          </a:prstGeom>
          <a:solidFill>
            <a:srgbClr val="4C4C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7246202" y="1858731"/>
            <a:ext cx="18288" cy="18288"/>
          </a:xfrm>
          <a:prstGeom prst="ellipse">
            <a:avLst/>
          </a:prstGeom>
          <a:solidFill>
            <a:srgbClr val="5151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4727260" y="5317346"/>
            <a:ext cx="18288" cy="18288"/>
          </a:xfrm>
          <a:prstGeom prst="ellipse">
            <a:avLst/>
          </a:prstGeom>
          <a:solidFill>
            <a:srgbClr val="4F4F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44407" y="3957464"/>
            <a:ext cx="18288" cy="18288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032547" y="4468365"/>
            <a:ext cx="27432" cy="27432"/>
          </a:xfrm>
          <a:prstGeom prst="ellipse">
            <a:avLst/>
          </a:prstGeom>
          <a:solidFill>
            <a:srgbClr val="5050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7677" y="5926144"/>
            <a:ext cx="13716" cy="13716"/>
          </a:xfrm>
          <a:prstGeom prst="ellipse">
            <a:avLst/>
          </a:prstGeom>
          <a:solidFill>
            <a:srgbClr val="3B3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217195" y="3876785"/>
            <a:ext cx="13716" cy="13716"/>
          </a:xfrm>
          <a:prstGeom prst="ellipse">
            <a:avLst/>
          </a:prstGeom>
          <a:solidFill>
            <a:srgbClr val="565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5756370" y="5968945"/>
            <a:ext cx="18288" cy="18288"/>
          </a:xfrm>
          <a:prstGeom prst="ellipse">
            <a:avLst/>
          </a:prstGeom>
          <a:solidFill>
            <a:srgbClr val="6262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743507" y="1482843"/>
            <a:ext cx="18288" cy="18288"/>
          </a:xfrm>
          <a:prstGeom prst="ellipse">
            <a:avLst/>
          </a:prstGeom>
          <a:solidFill>
            <a:srgbClr val="6363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2763735" y="6029119"/>
            <a:ext cx="18288" cy="18288"/>
          </a:xfrm>
          <a:prstGeom prst="ellipse">
            <a:avLst/>
          </a:prstGeom>
          <a:solidFill>
            <a:srgbClr val="6161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864766" y="5107528"/>
            <a:ext cx="13716" cy="13716"/>
          </a:xfrm>
          <a:prstGeom prst="ellipse">
            <a:avLst/>
          </a:prstGeom>
          <a:solidFill>
            <a:srgbClr val="525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955599" y="6549136"/>
            <a:ext cx="27432" cy="27432"/>
          </a:xfrm>
          <a:prstGeom prst="ellipse">
            <a:avLst/>
          </a:prstGeom>
          <a:solidFill>
            <a:srgbClr val="666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365719" y="6363173"/>
            <a:ext cx="13716" cy="13716"/>
          </a:xfrm>
          <a:prstGeom prst="ellipse">
            <a:avLst/>
          </a:prstGeom>
          <a:solidFill>
            <a:srgbClr val="4444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268644" y="425984"/>
            <a:ext cx="27432" cy="27432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4515631" y="4293466"/>
            <a:ext cx="27432" cy="27432"/>
          </a:xfrm>
          <a:prstGeom prst="ellipse">
            <a:avLst/>
          </a:prstGeom>
          <a:solidFill>
            <a:srgbClr val="6060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2910570" y="1954725"/>
            <a:ext cx="27432" cy="27432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518410" y="6659357"/>
            <a:ext cx="27432" cy="27432"/>
          </a:xfrm>
          <a:prstGeom prst="ellipse">
            <a:avLst/>
          </a:prstGeom>
          <a:solidFill>
            <a:srgbClr val="5B5B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4970866" y="3425979"/>
            <a:ext cx="27432" cy="27432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2528043" y="5126740"/>
            <a:ext cx="13716" cy="13716"/>
          </a:xfrm>
          <a:prstGeom prst="ellipse">
            <a:avLst/>
          </a:prstGeom>
          <a:solidFill>
            <a:srgbClr val="5959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2301745" y="3299357"/>
            <a:ext cx="13716" cy="13716"/>
          </a:xfrm>
          <a:prstGeom prst="ellipse">
            <a:avLst/>
          </a:prstGeom>
          <a:solidFill>
            <a:srgbClr val="424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2557716" y="3967569"/>
            <a:ext cx="18288" cy="18288"/>
          </a:xfrm>
          <a:prstGeom prst="ellipse">
            <a:avLst/>
          </a:prstGeom>
          <a:solidFill>
            <a:srgbClr val="4D4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3170935" y="5700886"/>
            <a:ext cx="13716" cy="13716"/>
          </a:xfrm>
          <a:prstGeom prst="ellipse">
            <a:avLst/>
          </a:prstGeom>
          <a:solidFill>
            <a:srgbClr val="5454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8580420" y="6092693"/>
            <a:ext cx="27432" cy="27432"/>
          </a:xfrm>
          <a:prstGeom prst="ellipse">
            <a:avLst/>
          </a:prstGeom>
          <a:solidFill>
            <a:srgbClr val="646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7507242" y="3006547"/>
            <a:ext cx="13716" cy="13716"/>
          </a:xfrm>
          <a:prstGeom prst="ellipse">
            <a:avLst/>
          </a:prstGeom>
          <a:solidFill>
            <a:srgbClr val="6565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11357963" y="2532802"/>
            <a:ext cx="13716" cy="13716"/>
          </a:xfrm>
          <a:prstGeom prst="ellipse">
            <a:avLst/>
          </a:prstGeom>
          <a:solidFill>
            <a:srgbClr val="474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10564567" y="1952152"/>
            <a:ext cx="18288" cy="18288"/>
          </a:xfrm>
          <a:prstGeom prst="ellipse">
            <a:avLst/>
          </a:prstGeom>
          <a:solidFill>
            <a:srgbClr val="484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8016904" y="6273688"/>
            <a:ext cx="13716" cy="13716"/>
          </a:xfrm>
          <a:prstGeom prst="ellipse">
            <a:avLst/>
          </a:prstGeom>
          <a:solidFill>
            <a:srgbClr val="3C3C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3718864" y="-502920"/>
            <a:ext cx="4754880" cy="4754880"/>
          </a:xfrm>
          <a:prstGeom prst="ellipse">
            <a:avLst/>
          </a:prstGeom>
          <a:noFill/>
          <a:ln w="15240">
            <a:solidFill>
              <a:srgbClr val="2019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313224" y="91439"/>
            <a:ext cx="3566160" cy="3566160"/>
          </a:xfrm>
          <a:prstGeom prst="ellipse">
            <a:avLst/>
          </a:prstGeom>
          <a:noFill/>
          <a:ln w="15240">
            <a:solidFill>
              <a:srgbClr val="2C22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861864" y="640079"/>
            <a:ext cx="2468880" cy="2468880"/>
          </a:xfrm>
          <a:prstGeom prst="ellipse">
            <a:avLst/>
          </a:prstGeom>
          <a:noFill/>
          <a:ln w="15240">
            <a:solidFill>
              <a:srgbClr val="382B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0" name="Picture 49" descr="logo_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9376" y="1307591"/>
            <a:ext cx="1133856" cy="113385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371600" y="3063240"/>
            <a:ext cx="9445752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 i="0">
                <a:solidFill>
                  <a:srgbClr val="F2F2F2"/>
                </a:solidFill>
                <a:latin typeface="Bahnschrift"/>
              </a:rPr>
              <a:t>Tap the </a:t>
            </a:r>
            <a:r>
              <a:rPr sz="4800" b="1" i="0">
                <a:solidFill>
                  <a:srgbClr val="F0B429"/>
                </a:solidFill>
                <a:latin typeface="Bahnschrift"/>
              </a:rPr>
              <a:t>future.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86000" y="4114800"/>
            <a:ext cx="76169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>
                <a:solidFill>
                  <a:srgbClr val="B8B4AC"/>
                </a:solidFill>
                <a:latin typeface="Segoe UI"/>
              </a:rPr>
              <a:t>Zero-interaction payments, settled on Stellar in under two seconds.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10127" y="4892040"/>
            <a:ext cx="1503273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x402 Protocol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42001" y="4892040"/>
            <a:ext cx="1020470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Soroban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291071" y="4892040"/>
            <a:ext cx="1020470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Stellar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540142" y="4892040"/>
            <a:ext cx="1342339" cy="384048"/>
          </a:xfrm>
          <a:prstGeom prst="roundRect">
            <a:avLst>
              <a:gd name="adj" fmla="val 50000"/>
            </a:avLst>
          </a:prstGeom>
          <a:solidFill>
            <a:srgbClr val="17130A"/>
          </a:solidFill>
          <a:ln w="12700">
            <a:solidFill>
              <a:srgbClr val="8A5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150" b="1">
                <a:solidFill>
                  <a:srgbClr val="F0B429"/>
                </a:solidFill>
                <a:latin typeface="Bahnschrift"/>
              </a:rPr>
              <a:t>PDAX Bridge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286000" y="5715000"/>
            <a:ext cx="76169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8A867E"/>
                </a:solidFill>
                <a:latin typeface="Segoe UI"/>
              </a:rPr>
              <a:t>Noir Wallet · Tap. Pay. Done.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0625328" y="6455664"/>
            <a:ext cx="155448" cy="155448"/>
          </a:xfrm>
          <a:prstGeom prst="roundRect">
            <a:avLst>
              <a:gd name="adj" fmla="val 30000"/>
            </a:avLst>
          </a:prstGeom>
          <a:solidFill>
            <a:srgbClr val="F0B4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817352" y="6382512"/>
            <a:ext cx="12801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B8B4AC"/>
                </a:solidFill>
                <a:latin typeface="Bahnschrift"/>
              </a:rPr>
              <a:t>Noir Wallet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1068</Words>
  <Application>Microsoft Office PowerPoint</Application>
  <PresentationFormat>Widescreen</PresentationFormat>
  <Paragraphs>179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Bahnschrift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Johnrick Rabara</cp:lastModifiedBy>
  <cp:revision>2</cp:revision>
  <dcterms:created xsi:type="dcterms:W3CDTF">2013-01-27T09:14:16Z</dcterms:created>
  <dcterms:modified xsi:type="dcterms:W3CDTF">2026-07-13T13:10:13Z</dcterms:modified>
  <cp:category/>
</cp:coreProperties>
</file>