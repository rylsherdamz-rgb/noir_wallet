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08058" y="5876366"/>
            <a:ext cx="18288" cy="18288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993582" y="4028285"/>
            <a:ext cx="18288" cy="18288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741325" y="4210529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511937" y="972430"/>
            <a:ext cx="13716" cy="13716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89235" y="4083503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142342" y="4221529"/>
            <a:ext cx="18288" cy="18288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7963" y="3623638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95767" y="1659245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5918" y="4052799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37351" y="2017291"/>
            <a:ext cx="27432" cy="27432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8338" y="4490629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29959" y="5762198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79289" y="1575048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2226" y="5255202"/>
            <a:ext cx="13716" cy="13716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57398" y="2650709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285" y="1438242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52582" y="4861630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52834" y="1361245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649271" y="2134275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61109" y="809186"/>
            <a:ext cx="18288" cy="18288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4612" y="410748"/>
            <a:ext cx="27432" cy="27432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63747" y="1291947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48095" y="5277381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017762" y="2707904"/>
            <a:ext cx="27432" cy="27432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121624" y="6658631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47355" y="134627"/>
            <a:ext cx="18288" cy="18288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831092" y="4128642"/>
            <a:ext cx="18288" cy="18288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31129" y="1003727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5298" y="4185664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77194" y="618023"/>
            <a:ext cx="18288" cy="18288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911014" y="4123604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63956" y="6577745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7421" y="2647853"/>
            <a:ext cx="27432" cy="27432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444170" y="1566253"/>
            <a:ext cx="13716" cy="13716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04358" y="1086826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545950" y="6516031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17294" y="325079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029084" y="1750015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20860" y="5649056"/>
            <a:ext cx="18288" cy="18288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307528" y="1203122"/>
            <a:ext cx="18288" cy="18288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93990" y="3287038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830780" y="1921744"/>
            <a:ext cx="27432" cy="27432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30341" y="1846131"/>
            <a:ext cx="27432" cy="27432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75412" y="1208748"/>
            <a:ext cx="13716" cy="13716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499448" y="902365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10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472830" y="1783080"/>
            <a:ext cx="3291840" cy="3291840"/>
          </a:xfrm>
          <a:prstGeom prst="ellipse">
            <a:avLst/>
          </a:prstGeom>
          <a:noFill/>
          <a:ln w="15240">
            <a:solidFill>
              <a:srgbClr val="2A2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930030" y="2240280"/>
            <a:ext cx="2377440" cy="2377440"/>
          </a:xfrm>
          <a:prstGeom prst="ellipse">
            <a:avLst/>
          </a:prstGeom>
          <a:noFill/>
          <a:ln w="15240">
            <a:solidFill>
              <a:srgbClr val="3A2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logo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510" y="2651760"/>
            <a:ext cx="1554480" cy="15544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229600" y="4892040"/>
            <a:ext cx="3776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Bahnschrift"/>
              </a:rPr>
              <a:t>TAP · PAY · DONE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1417320"/>
            <a:ext cx="2452420" cy="310896"/>
          </a:xfrm>
          <a:prstGeom prst="roundRect">
            <a:avLst>
              <a:gd name="adj" fmla="val 50000"/>
            </a:avLst>
          </a:prstGeom>
          <a:solidFill>
            <a:srgbClr val="3A2600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9144" rIns="73152" bIns="9144" rtlCol="0" anchor="ctr"/>
          <a:lstStyle/>
          <a:p>
            <a:pPr algn="ctr"/>
            <a:r>
              <a:rPr sz="1050" b="1">
                <a:solidFill>
                  <a:srgbClr val="F0B429"/>
                </a:solidFill>
                <a:latin typeface="Bahnschrift"/>
              </a:rPr>
              <a:t>CONTACTLESS PAYMENTS ON STELLAR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1828800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2F2F2"/>
                </a:solidFill>
                <a:latin typeface="Bahnschrift"/>
              </a:rPr>
              <a:t>Noir Wallet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2880360"/>
            <a:ext cx="7132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Tap. Pay. </a:t>
            </a:r>
            <a:r>
              <a:rPr sz="4000" b="1" i="0">
                <a:solidFill>
                  <a:srgbClr val="F0B429"/>
                </a:solidFill>
                <a:latin typeface="Bahnschrift"/>
              </a:rPr>
              <a:t>Done.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4069080"/>
            <a:ext cx="6766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A wallet you never open. Payments that just happen. Tap any RFID sticker, NFC card, or wearable to pay instantly — no app, no unlock, no confirmation.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51206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B4AC"/>
                </a:solidFill>
                <a:latin typeface="Segoe UI"/>
              </a:rPr>
              <a:t>Presented by: Richie Christian De Guzman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57913" y="4204549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58008" y="5072130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25321" y="6580148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83964" y="3785604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33122" y="332203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18272" y="2890774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05611" y="6432727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14500" y="4199322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64002" y="2142935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33944" y="5659399"/>
            <a:ext cx="27432" cy="27432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55809" y="336899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13031" y="1725367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55981" y="2724480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67239" y="2724090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16719" y="3849416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773" y="6166773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4183" y="3043141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24488" y="398168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10694" y="46345"/>
            <a:ext cx="27432" cy="27432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9606" y="3748761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02387" y="244973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0790" y="3672133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56717" y="4757078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07697" y="5679114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26920" y="823409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652821" y="1949074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64648" y="3265590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705921" y="6547671"/>
            <a:ext cx="27432" cy="27432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56184" y="819407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270123" y="439250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68767" y="4093489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161816" y="524200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6149" y="6810908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32915" y="466558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74638" y="3983961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10370" y="806122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6721" y="2590640"/>
            <a:ext cx="13716" cy="13716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501548" y="5169097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99047" y="4723973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094935" y="6098789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46555" y="6383410"/>
            <a:ext cx="18288" cy="18288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73988" y="6595382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65495" y="1086018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327535" y="4803532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625274" y="5565700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Paying Is Still Full of Friction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1371600"/>
            <a:ext cx="10607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Contactless was supposed to be instant. In reality, every payment still demands attention — unlock the phone, open the app, authenticate, confirm. </a:t>
            </a:r>
            <a:r>
              <a:rPr sz="1400" b="1" i="0">
                <a:solidFill>
                  <a:srgbClr val="F2F2F2"/>
                </a:solidFill>
                <a:latin typeface="Segoe UI"/>
              </a:rPr>
              <a:t>Crypto is even harder to spend: you need a cold wallet or a phone app just to pay for anything. </a:t>
            </a:r>
            <a:r>
              <a:rPr sz="1400" b="0" i="0">
                <a:solidFill>
                  <a:srgbClr val="B8B4AC"/>
                </a:solidFill>
                <a:latin typeface="Segoe UI"/>
              </a:rPr>
              <a:t>Behind it all, merchants surrender percentage fees to card rails and wait days for settlement — and high-throughput venues can't afford either.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28803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2F2F2"/>
                </a:solidFill>
                <a:latin typeface="Bahnschrift"/>
              </a:rPr>
              <a:t>10–30s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886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0B429"/>
                </a:solidFill>
                <a:latin typeface="Bahnschrift"/>
              </a:rPr>
              <a:t>Per Checkout Interaction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31596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Unlock, open, authenticate,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confirm — every single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28803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2F2F2"/>
                </a:solidFill>
                <a:latin typeface="Bahnschrift"/>
              </a:rPr>
              <a:t>2–3%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3886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0B429"/>
                </a:solidFill>
                <a:latin typeface="Bahnschrift"/>
              </a:rPr>
              <a:t>Card Rail Fees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431596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What merchants surrender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on every sale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28803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2F2F2"/>
                </a:solidFill>
                <a:latin typeface="Bahnschrift"/>
              </a:rPr>
              <a:t>T+2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3886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0B429"/>
                </a:solidFill>
                <a:latin typeface="Bahnschrift"/>
              </a:rPr>
              <a:t>Days to Settle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31596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Before merchants actually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see their money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" y="548640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B429"/>
                </a:solidFill>
                <a:latin typeface="Segoe UI"/>
              </a:rPr>
              <a:t>The principle: crypto gets adopted when people can use it daily. </a:t>
            </a:r>
            <a:r>
              <a:rPr sz="1400" b="0" i="0">
                <a:solidFill>
                  <a:srgbClr val="B8B4AC"/>
                </a:solidFill>
                <a:latin typeface="Segoe UI"/>
              </a:rPr>
              <a:t>Remove the friction from everyday purchases, and spending crypto becomes as natural as tapping a card — that's what turns holders into users.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039106" y="1599407"/>
            <a:ext cx="27432" cy="27432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947278" y="6109181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38481" y="6207862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79591" y="3622849"/>
            <a:ext cx="18288" cy="18288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03610" y="4359080"/>
            <a:ext cx="18288" cy="18288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770396" y="3402257"/>
            <a:ext cx="18288" cy="18288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07450" y="5046490"/>
            <a:ext cx="27432" cy="27432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313704" y="3810359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29565" y="384182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076003" y="454191"/>
            <a:ext cx="13716" cy="13716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67411" y="5277695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902651" y="2426854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66965" y="2668052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18780" y="2500278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26139" y="5843441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7061" y="5542364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98480" y="2387736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70063" y="3139588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88582" y="3115414"/>
            <a:ext cx="18288" cy="18288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6182" y="3299871"/>
            <a:ext cx="18288" cy="18288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53178" y="5985168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38009" y="4958523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92604" y="5001994"/>
            <a:ext cx="13716" cy="13716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22420" y="6073245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40963" y="2894503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176988" y="6010981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0325" y="2723375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87019" y="1270531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583463" y="1962523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73741" y="6625561"/>
            <a:ext cx="13716" cy="13716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347603" y="2296269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149722" y="4023203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66158" y="4286700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778686" y="632202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3220" y="805198"/>
            <a:ext cx="27432" cy="27432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583322" y="490362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993921" y="6827659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664" y="6440406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75029" y="5581237"/>
            <a:ext cx="13716" cy="13716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83832" y="142810"/>
            <a:ext cx="18288" cy="18288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779953" y="773157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745299" y="5080191"/>
            <a:ext cx="13716" cy="13716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201034" y="5730572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066594" y="1992332"/>
            <a:ext cx="13716" cy="13716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98107" y="4930931"/>
            <a:ext cx="18288" cy="18288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5720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2F2"/>
                </a:solidFill>
                <a:latin typeface="Bahnschrift"/>
              </a:rPr>
              <a:t>Checkout Should Never Be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2F2"/>
                </a:solidFill>
                <a:latin typeface="Bahnschrift"/>
              </a:rPr>
              <a:t>the Bottleneck</a:t>
            </a:r>
          </a:p>
        </p:txBody>
      </p:sp>
      <p:pic>
        <p:nvPicPr>
          <p:cNvPr id="48" name="Picture 47" descr="tap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77440"/>
            <a:ext cx="6126480" cy="33133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15200" y="2148840"/>
            <a:ext cx="4206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What Traditional Payments</a:t>
            </a:r>
          </a:p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Demand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360920" y="2962656"/>
            <a:ext cx="292608" cy="146304"/>
          </a:xfrm>
          <a:prstGeom prst="rightArrow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0" y="2871216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2F2F2"/>
                </a:solidFill>
                <a:latin typeface="Segoe UI"/>
              </a:rPr>
              <a:t>Unlock your phone and open an app for every purchase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7360920" y="3529584"/>
            <a:ext cx="292608" cy="146304"/>
          </a:xfrm>
          <a:prstGeom prst="rightArrow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0" y="3438144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2F2F2"/>
                </a:solidFill>
                <a:latin typeface="Segoe UI"/>
              </a:rPr>
              <a:t>Confirm each transaction on-device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360920" y="4096511"/>
            <a:ext cx="292608" cy="146304"/>
          </a:xfrm>
          <a:prstGeom prst="rightArrow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0" y="4005072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2F2F2"/>
                </a:solidFill>
                <a:latin typeface="Segoe UI"/>
              </a:rPr>
              <a:t>2–3% fees on closed card networks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360920" y="4663440"/>
            <a:ext cx="292608" cy="146304"/>
          </a:xfrm>
          <a:prstGeom prst="rightArrow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0" y="457200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2F2F2"/>
                </a:solidFill>
                <a:latin typeface="Segoe UI"/>
              </a:rPr>
              <a:t>Multi-day settlement before funds arrive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69480" y="5074920"/>
            <a:ext cx="4297680" cy="1188720"/>
          </a:xfrm>
          <a:prstGeom prst="roundRect">
            <a:avLst>
              <a:gd name="adj" fmla="val 7615"/>
            </a:avLst>
          </a:prstGeom>
          <a:solidFill>
            <a:srgbClr val="4A3200"/>
          </a:solidFill>
          <a:ln w="13970">
            <a:solidFill>
              <a:srgbClr val="4A3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2F2F2"/>
                </a:solidFill>
                <a:latin typeface="Segoe UI"/>
              </a:rPr>
              <a:t>Speed should not cost you custody. </a:t>
            </a:r>
            <a:r>
              <a:rPr sz="1250">
                <a:solidFill>
                  <a:srgbClr val="F5E6C8"/>
                </a:solidFill>
                <a:latin typeface="Segoe UI"/>
              </a:rPr>
              <a:t>Even “tap to pay” cards ride closed networks with percentage fees and day-long settlement.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374661" y="4811670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193115" y="1985858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84086" y="687035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24089" y="4756093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07455" y="4741001"/>
            <a:ext cx="27432" cy="27432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8766" y="5771164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2280" y="480517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66922" y="738722"/>
            <a:ext cx="18288" cy="18288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4464" y="2646357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13314" y="1293371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85997" y="337446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70912" y="259462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00384" y="4481332"/>
            <a:ext cx="27432" cy="27432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86410" y="4324368"/>
            <a:ext cx="18288" cy="18288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66809" y="3315505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84210" y="6675214"/>
            <a:ext cx="18288" cy="18288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23024" y="1530338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38427" y="4435688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67603" y="2446097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8152" y="2332614"/>
            <a:ext cx="18288" cy="18288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029254" y="6850583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241713" y="840033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84493" y="37011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48299" y="432466"/>
            <a:ext cx="18288" cy="18288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661529" y="1223439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05612" y="5884519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064447" y="6707708"/>
            <a:ext cx="18288" cy="18288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18375" y="5406702"/>
            <a:ext cx="27432" cy="27432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10223" y="448611"/>
            <a:ext cx="27432" cy="27432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374766" y="2072116"/>
            <a:ext cx="18288" cy="18288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70095" y="903270"/>
            <a:ext cx="13716" cy="13716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13910" y="6348818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903990" y="3041317"/>
            <a:ext cx="27432" cy="27432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83461" y="1910602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943879" y="1667401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711462" y="500703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20937" y="6783786"/>
            <a:ext cx="18288" cy="18288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07779" y="6347066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49421" y="6633536"/>
            <a:ext cx="27432" cy="27432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49074" y="541584"/>
            <a:ext cx="13716" cy="13716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748343" y="5504788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098148" y="5091450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777094" y="1513420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189782" y="34985"/>
            <a:ext cx="13716" cy="13716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06490" y="1452999"/>
            <a:ext cx="13716" cy="13716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549640" y="0"/>
            <a:ext cx="3642055" cy="6858000"/>
          </a:xfrm>
          <a:prstGeom prst="rect">
            <a:avLst/>
          </a:prstGeom>
          <a:solidFill>
            <a:srgbClr val="0E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dashboard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320040"/>
            <a:ext cx="2914863" cy="621792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85800" y="411480"/>
            <a:ext cx="1027785" cy="310896"/>
          </a:xfrm>
          <a:prstGeom prst="roundRect">
            <a:avLst>
              <a:gd name="adj" fmla="val 50000"/>
            </a:avLst>
          </a:prstGeom>
          <a:solidFill>
            <a:srgbClr val="3A2600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9144" rIns="73152" bIns="9144" rtlCol="0" anchor="ctr"/>
          <a:lstStyle/>
          <a:p>
            <a:pPr algn="ctr"/>
            <a:r>
              <a:rPr sz="1050" b="1">
                <a:solidFill>
                  <a:srgbClr val="F0B429"/>
                </a:solidFill>
                <a:latin typeface="Bahnschrift"/>
              </a:rPr>
              <a:t>OUR SOLUTION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777240"/>
            <a:ext cx="7680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2F2F2"/>
                </a:solidFill>
                <a:latin typeface="Bahnschrift"/>
              </a:rPr>
              <a:t>Introducing Noir Wallet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157276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Segoe UI"/>
              </a:rPr>
              <a:t>Zero interaction. Instant settlement.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2057400"/>
            <a:ext cx="7452360" cy="1060704"/>
          </a:xfrm>
          <a:prstGeom prst="roundRect">
            <a:avLst>
              <a:gd name="adj" fmla="val 8172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0120" y="2167128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Tap-First Identity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2532888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Any RFID sticker, NFC card, or wearable links to your Stellar wallet — the tag is the login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227832"/>
            <a:ext cx="7452360" cy="1060704"/>
          </a:xfrm>
          <a:prstGeom prst="roundRect">
            <a:avLst>
              <a:gd name="adj" fmla="val 8172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" y="333756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x402 Protocol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3703320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Debited the moment your tag touches the terminal — no unlock, no app, no confirmation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4398264"/>
            <a:ext cx="7452360" cy="1060704"/>
          </a:xfrm>
          <a:prstGeom prst="roundRect">
            <a:avLst>
              <a:gd name="adj" fmla="val 8172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" y="4507992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x402 Agents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4873752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Each device gets its own funded agent wallet with a daily limit — your main funds stay untouched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5568696"/>
            <a:ext cx="7452360" cy="1060704"/>
          </a:xfrm>
          <a:prstGeom prst="roundRect">
            <a:avLst>
              <a:gd name="adj" fmla="val 8172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0120" y="5678424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Soroban Registry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" y="6044184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The device_registry smart contract maps hardware to wallets on-chain — auditable and revocable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2043970" y="1345860"/>
            <a:ext cx="13716" cy="13716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08865" y="2070688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4805" y="5942646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697944" y="3453023"/>
            <a:ext cx="27432" cy="27432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0824" y="6786078"/>
            <a:ext cx="27432" cy="27432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11474" y="281355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04402" y="3911448"/>
            <a:ext cx="27432" cy="27432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6355" y="607496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20682" y="1554310"/>
            <a:ext cx="27432" cy="27432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73693" y="2265151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69081" y="2812900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47545" y="1649173"/>
            <a:ext cx="18288" cy="18288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95178" y="3799499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78710" y="892825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60941" y="3221069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04076" y="5607945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3516" y="4806821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29624" y="860665"/>
            <a:ext cx="18288" cy="18288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36009" y="3406889"/>
            <a:ext cx="18288" cy="18288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196305" y="2436690"/>
            <a:ext cx="18288" cy="18288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82540" y="2901482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48979" y="391735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2442" y="2436550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94014" y="3852802"/>
            <a:ext cx="18288" cy="18288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3396" y="4886855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92305" y="3640367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263757" y="3361126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43021" y="1431344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430720" y="4437906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2011645" y="3829176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01362" y="3292476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28523" y="833276"/>
            <a:ext cx="27432" cy="27432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52330" y="1410421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669302" y="1517358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76961" y="5279968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420185" y="1872826"/>
            <a:ext cx="13716" cy="13716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206908" y="2704209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5566" y="5144416"/>
            <a:ext cx="13716" cy="13716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05714" y="5175278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985115" y="5621790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246568" y="2494866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756794" y="2892694"/>
            <a:ext cx="27432" cy="27432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64278" y="3059462"/>
            <a:ext cx="27432" cy="27432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226147" y="5609235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172943" y="4903965"/>
            <a:ext cx="27432" cy="27432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02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Why Stellar?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13258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Stellar provides everything needed for pay-by-tap at machine speed and near-zero cost.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19659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6968" y="20756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Near-Zero Fees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24231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~$0.00001 per operation — viable for ₱20 canteen meals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19659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20756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Fast Finality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24231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3–5 second confirmations — faster than a receipt prints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01000" y="19659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02168" y="20756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Soroban Contracts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8" y="24231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WASM smart contracts for the on-chain device registry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33375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34472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Fee Channels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" y="37947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Sponsored transactions absorb costs — users never buy XLM first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43400" y="33375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44568" y="34472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Real Assets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4568" y="37947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XLM, USDC, and issuer assets — spend and settle in stable value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01000" y="33375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02168" y="34472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PDAX Fiat Bridge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02168" y="37947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Licensed PHP on/off-ramp — merchants cash out in pesos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489204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Architecture Principle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" y="5257800"/>
            <a:ext cx="6309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2F2F2"/>
                </a:solidFill>
                <a:latin typeface="Segoe UI"/>
              </a:rPr>
              <a:t>Only hashed device references and payment operations go on-chain. </a:t>
            </a:r>
            <a:r>
              <a:rPr sz="1250" b="0" i="0">
                <a:solidFill>
                  <a:srgbClr val="B8B4AC"/>
                </a:solidFill>
                <a:latin typeface="Segoe UI"/>
              </a:rPr>
              <a:t>The terminal reads a tag UID, Soroban resolves the linked wallet, and Stellar settles the transfer — with PDAX converting to PHP for merchants who want pesos, not crypto.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69480" y="5074920"/>
            <a:ext cx="2103120" cy="1051560"/>
          </a:xfrm>
          <a:prstGeom prst="roundRect">
            <a:avLst>
              <a:gd name="adj" fmla="val 8217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452360" y="521208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0B429"/>
                </a:solidFill>
                <a:latin typeface="Bahnschrift"/>
              </a:rPr>
              <a:t>~$0.00001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56692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Per transaction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09760" y="5074920"/>
            <a:ext cx="2103120" cy="1051560"/>
          </a:xfrm>
          <a:prstGeom prst="roundRect">
            <a:avLst>
              <a:gd name="adj" fmla="val 8217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92640" y="521208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0B429"/>
                </a:solidFill>
                <a:latin typeface="Bahnschrift"/>
              </a:rPr>
              <a:t>&lt; 2s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56692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Tap to “Paid”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03643" y="6335326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122144" y="5908073"/>
            <a:ext cx="18288" cy="18288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74083" y="6354089"/>
            <a:ext cx="13716" cy="13716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12269" y="877530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10452" y="4993732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3737" y="4380341"/>
            <a:ext cx="27432" cy="27432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69121" y="2633915"/>
            <a:ext cx="27432" cy="27432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90724" y="64968"/>
            <a:ext cx="18288" cy="18288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05994" y="4218876"/>
            <a:ext cx="27432" cy="27432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62908" y="6514127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8278" y="5193012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85456" y="5442882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84708" y="2767488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36901" y="3248927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69127" y="3845553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42808" y="2922124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44661" y="6061293"/>
            <a:ext cx="18288" cy="18288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42411" y="6293937"/>
            <a:ext cx="13716" cy="13716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47785" y="6158557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88181" y="238581"/>
            <a:ext cx="27432" cy="27432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128241" y="1976851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5401" y="5313771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51339" y="1146303"/>
            <a:ext cx="13716" cy="13716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17126" y="4778386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33856" y="2894556"/>
            <a:ext cx="27432" cy="27432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683457" y="2652012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39856" y="6552659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01731" y="609625"/>
            <a:ext cx="18288" cy="18288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50762" y="4149967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86535" y="1844651"/>
            <a:ext cx="18288" cy="18288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67991" y="1153200"/>
            <a:ext cx="18288" cy="18288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583942" y="993194"/>
            <a:ext cx="27432" cy="27432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498518" y="5774094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183070" y="5950075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562408" y="4055677"/>
            <a:ext cx="27432" cy="27432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55128" y="3845838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437619" y="5337395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783008" y="2039294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03196" y="4979369"/>
            <a:ext cx="27432" cy="27432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425696" y="5775646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413074" y="1417421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254131" y="5266100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062938" y="2785072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286467" y="6294709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765069" y="5229316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02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How It Works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13258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One tap sets off the whole pipeline — the user never sees any of it.</a:t>
            </a:r>
          </a:p>
        </p:txBody>
      </p:sp>
      <p:sp>
        <p:nvSpPr>
          <p:cNvPr id="49" name="Pentagon 48"/>
          <p:cNvSpPr/>
          <p:nvPr/>
        </p:nvSpPr>
        <p:spPr>
          <a:xfrm>
            <a:off x="822960" y="1920240"/>
            <a:ext cx="6035040" cy="841248"/>
          </a:xfrm>
          <a:prstGeom prst="homePlat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548640" rtlCol="0" anchor="ctr"/>
          <a:lstStyle/>
          <a:p>
            <a:pPr algn="l"/>
            <a:r>
              <a:rPr sz="1600" b="1">
                <a:solidFill>
                  <a:srgbClr val="F2F2F2"/>
                </a:solidFill>
                <a:latin typeface="Bahnschrift"/>
              </a:rPr>
              <a:t>1 · Tap   </a:t>
            </a:r>
            <a:r>
              <a:rPr sz="1200">
                <a:solidFill>
                  <a:srgbClr val="F2E2C4"/>
                </a:solidFill>
                <a:latin typeface="Segoe UI"/>
              </a:rPr>
              <a:t>Terminal reads the tag UID over NFC/RFID</a:t>
            </a:r>
          </a:p>
        </p:txBody>
      </p:sp>
      <p:sp>
        <p:nvSpPr>
          <p:cNvPr id="50" name="Pentagon 49"/>
          <p:cNvSpPr/>
          <p:nvPr/>
        </p:nvSpPr>
        <p:spPr>
          <a:xfrm>
            <a:off x="822960" y="2907792"/>
            <a:ext cx="7132320" cy="841248"/>
          </a:xfrm>
          <a:prstGeom prst="homePlate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548640" rtlCol="0" anchor="ctr"/>
          <a:lstStyle/>
          <a:p>
            <a:pPr algn="l"/>
            <a:r>
              <a:rPr sz="1600" b="1">
                <a:solidFill>
                  <a:srgbClr val="F2F2F2"/>
                </a:solidFill>
                <a:latin typeface="Bahnschrift"/>
              </a:rPr>
              <a:t>2 · Hash &amp; Resolve   </a:t>
            </a:r>
            <a:r>
              <a:rPr sz="1200">
                <a:solidFill>
                  <a:srgbClr val="F2E2C4"/>
                </a:solidFill>
                <a:latin typeface="Segoe UI"/>
              </a:rPr>
              <a:t>UID is SHA-256 hashed; device_registry resolves the wallet</a:t>
            </a:r>
          </a:p>
        </p:txBody>
      </p:sp>
      <p:sp>
        <p:nvSpPr>
          <p:cNvPr id="51" name="Pentagon 50"/>
          <p:cNvSpPr/>
          <p:nvPr/>
        </p:nvSpPr>
        <p:spPr>
          <a:xfrm>
            <a:off x="822960" y="3895344"/>
            <a:ext cx="8229600" cy="841248"/>
          </a:xfrm>
          <a:prstGeom prst="homePlat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548640" rtlCol="0" anchor="ctr"/>
          <a:lstStyle/>
          <a:p>
            <a:pPr algn="l"/>
            <a:r>
              <a:rPr sz="1600" b="1">
                <a:solidFill>
                  <a:srgbClr val="140F02"/>
                </a:solidFill>
                <a:latin typeface="Bahnschrift"/>
              </a:rPr>
              <a:t>3 · Debit the Agent   </a:t>
            </a:r>
            <a:r>
              <a:rPr sz="1200">
                <a:solidFill>
                  <a:srgbClr val="3A2C08"/>
                </a:solidFill>
                <a:latin typeface="Segoe UI"/>
              </a:rPr>
              <a:t>The device's x402 agent wallet signs within its daily limit</a:t>
            </a:r>
          </a:p>
        </p:txBody>
      </p:sp>
      <p:sp>
        <p:nvSpPr>
          <p:cNvPr id="52" name="Pentagon 51"/>
          <p:cNvSpPr/>
          <p:nvPr/>
        </p:nvSpPr>
        <p:spPr>
          <a:xfrm>
            <a:off x="822960" y="4882896"/>
            <a:ext cx="9326880" cy="841248"/>
          </a:xfrm>
          <a:prstGeom prst="homePlate">
            <a:avLst/>
          </a:prstGeom>
          <a:solidFill>
            <a:srgbClr val="F5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548640" rtlCol="0" anchor="ctr"/>
          <a:lstStyle/>
          <a:p>
            <a:pPr algn="l"/>
            <a:r>
              <a:rPr sz="1600" b="1">
                <a:solidFill>
                  <a:srgbClr val="140F02"/>
                </a:solidFill>
                <a:latin typeface="Bahnschrift"/>
              </a:rPr>
              <a:t>4 · Settle &amp; Cash Out   </a:t>
            </a:r>
            <a:r>
              <a:rPr sz="1200">
                <a:solidFill>
                  <a:srgbClr val="3A2C08"/>
                </a:solidFill>
                <a:latin typeface="Segoe UI"/>
              </a:rPr>
              <a:t>Stellar finalizes in 3–5s; PDAX bridges to PHP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59436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B8B4AC"/>
                </a:solidFill>
                <a:latin typeface="Segoe UI"/>
              </a:rPr>
              <a:t>The gateway returns 202 Accepted instantly and settles asynchronously — </a:t>
            </a:r>
            <a:r>
              <a:rPr sz="1350" b="1" i="0">
                <a:solidFill>
                  <a:srgbClr val="F2F2F2"/>
                </a:solidFill>
                <a:latin typeface="Segoe UI"/>
              </a:rPr>
              <a:t>under two seconds from tap to “Paid”</a:t>
            </a:r>
            <a:r>
              <a:rPr sz="1350" b="0" i="0">
                <a:solidFill>
                  <a:srgbClr val="B8B4AC"/>
                </a:solidFill>
                <a:latin typeface="Segoe UI"/>
              </a:rPr>
              <a:t> — with an offline queue that batches transactions when the network drops.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973348" y="1649304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806133" y="3826042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73543" y="4325001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76581" y="194432"/>
            <a:ext cx="13716" cy="13716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61169" y="1311460"/>
            <a:ext cx="13716" cy="13716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041413" y="804500"/>
            <a:ext cx="13716" cy="13716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09978" y="1405727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6905" y="1372505"/>
            <a:ext cx="13716" cy="13716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57968" y="3694712"/>
            <a:ext cx="18288" cy="18288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018180" y="5096410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33258" y="5674046"/>
            <a:ext cx="13716" cy="13716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15211" y="4300440"/>
            <a:ext cx="13716" cy="13716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84325" y="3632838"/>
            <a:ext cx="13716" cy="13716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531720" y="3641381"/>
            <a:ext cx="27432" cy="27432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58002" y="5062229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48488" y="240695"/>
            <a:ext cx="13716" cy="13716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1050" y="2455518"/>
            <a:ext cx="27432" cy="27432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21554" y="3456531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60209" y="4462170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60546" y="2045296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83766" y="6276851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67" y="5446042"/>
            <a:ext cx="27432" cy="27432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46375" y="1645274"/>
            <a:ext cx="13716" cy="13716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83216" y="2676393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774509" y="930114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1115" y="589507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05944" y="6571708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14277" y="2600310"/>
            <a:ext cx="27432" cy="27432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27143" y="2861958"/>
            <a:ext cx="27432" cy="27432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293858" y="6071853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59740" y="3709866"/>
            <a:ext cx="27432" cy="27432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54270" y="125511"/>
            <a:ext cx="18288" cy="18288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4655" y="5041454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29904" y="749505"/>
            <a:ext cx="13716" cy="13716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12943" y="2915779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85299" y="3156393"/>
            <a:ext cx="27432" cy="27432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476562" y="5269559"/>
            <a:ext cx="27432" cy="27432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219403" y="1721595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43692" y="6267378"/>
            <a:ext cx="27432" cy="27432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202962" y="6856583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359733" y="4495230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516304" y="6646634"/>
            <a:ext cx="27432" cy="27432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831200" y="6003346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769468" y="541024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68244" y="2465866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System Architecture</a:t>
            </a:r>
          </a:p>
        </p:txBody>
      </p:sp>
      <p:pic>
        <p:nvPicPr>
          <p:cNvPr id="48" name="Picture 47" descr="agents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00200"/>
            <a:ext cx="2271878" cy="4846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931920" y="141732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Three Core Layers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31920" y="1874519"/>
            <a:ext cx="7543800" cy="1115568"/>
          </a:xfrm>
          <a:prstGeom prst="roundRect">
            <a:avLst>
              <a:gd name="adj" fmla="val 7918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31920" y="1984248"/>
            <a:ext cx="64008" cy="896112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24528" y="1984248"/>
            <a:ext cx="7040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device_registry · Soroban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2377439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Hardware-to-wallet mapping with terminal whitelisting and per-device replay protection on-chain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1920" y="3118104"/>
            <a:ext cx="7543800" cy="1115568"/>
          </a:xfrm>
          <a:prstGeom prst="roundRect">
            <a:avLst>
              <a:gd name="adj" fmla="val 7918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931920" y="3227832"/>
            <a:ext cx="64008" cy="896112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24528" y="3227832"/>
            <a:ext cx="7040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Payment Gateway · Rust + actix-web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621024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Async payment queue, fee channels, daily-limit enforcement, and idempotent transaction records in PostgreSQL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31920" y="4361688"/>
            <a:ext cx="7543800" cy="1115568"/>
          </a:xfrm>
          <a:prstGeom prst="roundRect">
            <a:avLst>
              <a:gd name="adj" fmla="val 7918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931920" y="4471416"/>
            <a:ext cx="64008" cy="896112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24528" y="4471416"/>
            <a:ext cx="7040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PDAX Fiat Bridge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4528" y="4864608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Licensed Philippine exchange integration — auto-liquidation webhooks convert merchant USDC to PHP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931920" y="5650992"/>
            <a:ext cx="7543800" cy="868680"/>
          </a:xfrm>
          <a:prstGeom prst="roundRect">
            <a:avLst>
              <a:gd name="adj" fmla="val 9315"/>
            </a:avLst>
          </a:prstGeom>
          <a:solidFill>
            <a:srgbClr val="1A2233"/>
          </a:solidFill>
          <a:ln w="13970">
            <a:solidFill>
              <a:srgbClr val="1A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rtlCol="0" anchor="ctr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2F2F2"/>
                </a:solidFill>
                <a:latin typeface="Segoe UI"/>
              </a:rPr>
              <a:t>Only SHA-256 device hashes touch the chain. </a:t>
            </a:r>
            <a:r>
              <a:rPr sz="1250">
                <a:solidFill>
                  <a:srgbClr val="C8D4E8"/>
                </a:solidFill>
                <a:latin typeface="Segoe UI"/>
              </a:rPr>
              <a:t>Raw card UIDs never leave the terminal, and no custodial server ever holds user funds.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657199" y="2282397"/>
            <a:ext cx="18288" cy="18288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332" y="5269966"/>
            <a:ext cx="27432" cy="27432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94815" y="929305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5773" y="1188626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267426" y="956620"/>
            <a:ext cx="18288" cy="18288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52248" y="5907023"/>
            <a:ext cx="13716" cy="13716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97361" y="1697061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02" y="102581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20307" y="3111095"/>
            <a:ext cx="27432" cy="27432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12062" y="4837346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11341" y="463818"/>
            <a:ext cx="18288" cy="18288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459" y="865856"/>
            <a:ext cx="18288" cy="18288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03918" y="141940"/>
            <a:ext cx="27432" cy="27432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57504" y="584856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562149" y="6691732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93843" y="3186311"/>
            <a:ext cx="27432" cy="27432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74597" y="4274651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27390" y="4712191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47112" y="2828330"/>
            <a:ext cx="27432" cy="27432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53167" y="2975210"/>
            <a:ext cx="27432" cy="27432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4048" y="236320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044271" y="4773735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305" y="362023"/>
            <a:ext cx="18288" cy="18288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8990" y="3834724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736958" y="117286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34740" y="314111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338713" y="928998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35187" y="4245625"/>
            <a:ext cx="18288" cy="18288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212255" y="6034261"/>
            <a:ext cx="27432" cy="27432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109581" y="14141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569077" y="2677425"/>
            <a:ext cx="13716" cy="13716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737169" y="5099885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77392" y="2642529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76854" y="6305691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786987" y="2745683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086212" y="4366144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13335" y="1091443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660977" y="4756972"/>
            <a:ext cx="18288" cy="18288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200388" y="3562154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934004" y="1409448"/>
            <a:ext cx="27432" cy="27432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3132" y="6715329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192933" y="2085146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516861" y="3279596"/>
            <a:ext cx="18288" cy="18288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042010" y="6561015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289515" y="2295563"/>
            <a:ext cx="18288" cy="18288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E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015630" y="1325880"/>
            <a:ext cx="4206240" cy="4206240"/>
          </a:xfrm>
          <a:prstGeom prst="ellipse">
            <a:avLst/>
          </a:prstGeom>
          <a:noFill/>
          <a:ln w="15240">
            <a:solidFill>
              <a:srgbClr val="241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518550" y="1828800"/>
            <a:ext cx="3200400" cy="3200400"/>
          </a:xfrm>
          <a:prstGeom prst="ellipse">
            <a:avLst/>
          </a:prstGeom>
          <a:noFill/>
          <a:ln w="15240">
            <a:solidFill>
              <a:srgbClr val="3025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021470" y="2331720"/>
            <a:ext cx="2194560" cy="2194560"/>
          </a:xfrm>
          <a:prstGeom prst="ellipse">
            <a:avLst/>
          </a:prstGeom>
          <a:noFill/>
          <a:ln w="15240">
            <a:solidFill>
              <a:srgbClr val="3E2F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409176" y="2715768"/>
            <a:ext cx="1426464" cy="1426464"/>
          </a:xfrm>
          <a:prstGeom prst="ellipse">
            <a:avLst/>
          </a:prstGeom>
          <a:solidFill>
            <a:srgbClr val="181306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/>
              <a:t>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434840"/>
            <a:ext cx="3776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Bahnschrift"/>
              </a:rPr>
              <a:t>DEFENSE IN DEPTH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Security-First Design</a:t>
            </a:r>
          </a:p>
        </p:txBody>
      </p:sp>
      <p:sp>
        <p:nvSpPr>
          <p:cNvPr id="54" name="Oval 53"/>
          <p:cNvSpPr/>
          <p:nvPr/>
        </p:nvSpPr>
        <p:spPr>
          <a:xfrm>
            <a:off x="749808" y="1527048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5880" y="1444752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Hashed Device Identity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" y="1810512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Tag UIDs are SHA-256 hashed at the terminal — the raw UID is never stored or transmitted</a:t>
            </a:r>
          </a:p>
        </p:txBody>
      </p:sp>
      <p:sp>
        <p:nvSpPr>
          <p:cNvPr id="57" name="Oval 56"/>
          <p:cNvSpPr/>
          <p:nvPr/>
        </p:nvSpPr>
        <p:spPr>
          <a:xfrm>
            <a:off x="749808" y="2560320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5880" y="2478024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Terminal Authentication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2843784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Only whitelisted POS terminals can initiate payments, via API keys and signed challenges</a:t>
            </a:r>
          </a:p>
        </p:txBody>
      </p:sp>
      <p:sp>
        <p:nvSpPr>
          <p:cNvPr id="60" name="Oval 59"/>
          <p:cNvSpPr/>
          <p:nvPr/>
        </p:nvSpPr>
        <p:spPr>
          <a:xfrm>
            <a:off x="749808" y="3593591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5880" y="3511296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Replay Protection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25880" y="3877056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Every tap carries a signed nonce; 500ms anti-double-tap rate limiting per device</a:t>
            </a:r>
          </a:p>
        </p:txBody>
      </p:sp>
      <p:sp>
        <p:nvSpPr>
          <p:cNvPr id="63" name="Oval 62"/>
          <p:cNvSpPr/>
          <p:nvPr/>
        </p:nvSpPr>
        <p:spPr>
          <a:xfrm>
            <a:off x="749808" y="4626864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25880" y="4544568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Blast-Radius Limits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25880" y="4910328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Per-device daily limits and isolated x402 agent wallets — a lost tag never exposes main funds</a:t>
            </a:r>
          </a:p>
        </p:txBody>
      </p:sp>
      <p:sp>
        <p:nvSpPr>
          <p:cNvPr id="66" name="Oval 65"/>
          <p:cNvSpPr/>
          <p:nvPr/>
        </p:nvSpPr>
        <p:spPr>
          <a:xfrm>
            <a:off x="749808" y="5660136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25880" y="5577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Encrypted Key Custody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25880" y="5943600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Fee-channel and agent keys sealed with envelope encryption (KMS-backed KeyManager)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42020" y="4110953"/>
            <a:ext cx="18288" cy="18288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24475" y="593755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71505" y="4803948"/>
            <a:ext cx="18288" cy="18288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65091" y="2891602"/>
            <a:ext cx="27432" cy="27432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641846" y="6185911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03050" y="1457948"/>
            <a:ext cx="18288" cy="18288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82325" y="3887903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45946" y="5311339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908653" y="1847539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84233" y="6786470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33619" y="6173861"/>
            <a:ext cx="13716" cy="13716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907773" y="2451905"/>
            <a:ext cx="18288" cy="18288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60570" y="5430432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507870" y="4528335"/>
            <a:ext cx="13716" cy="13716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84113" y="3248818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19747" y="4334356"/>
            <a:ext cx="13716" cy="13716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27041" y="2613319"/>
            <a:ext cx="18288" cy="18288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41663" y="6171995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577753" y="1766460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13525" y="4766302"/>
            <a:ext cx="13716" cy="13716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004226" y="4926537"/>
            <a:ext cx="13716" cy="13716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475108" y="852908"/>
            <a:ext cx="27432" cy="27432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08422" y="6797111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266758" y="6037993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728553" y="5802728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267069" y="496446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140584" y="326973"/>
            <a:ext cx="13716" cy="13716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65715" y="5639793"/>
            <a:ext cx="18288" cy="18288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48156" y="2544157"/>
            <a:ext cx="18288" cy="18288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23429" y="6330181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97622" y="1578778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965610" y="2130481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827373" y="5239465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675804" y="2630417"/>
            <a:ext cx="27432" cy="27432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59444" y="2887966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134259" y="6221616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501149" y="6376779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747940" y="2807202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943597" y="2598898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517857" y="4242786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370942" y="2310097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2562" y="2436573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866810" y="4579887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011974" y="5095604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977208" y="5909897"/>
            <a:ext cx="13716" cy="13716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2F2F2"/>
                </a:solidFill>
                <a:latin typeface="Bahnschrift"/>
              </a:rPr>
              <a:t>Market Opportunity &amp; Competitive Advantage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Target Venues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1828800"/>
            <a:ext cx="2377440" cy="1417320"/>
          </a:xfrm>
          <a:prstGeom prst="roundRect">
            <a:avLst>
              <a:gd name="adj" fmla="val 6870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2" y="1956816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F2F2"/>
                </a:solidFill>
                <a:latin typeface="Bahnschrift"/>
              </a:rPr>
              <a:t>Transit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" y="2395728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Turnstile-speed fares,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no queue pileups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0" y="1828800"/>
            <a:ext cx="2377440" cy="1417320"/>
          </a:xfrm>
          <a:prstGeom prst="roundRect">
            <a:avLst>
              <a:gd name="adj" fmla="val 6870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364992" y="1956816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F2F2"/>
                </a:solidFill>
                <a:latin typeface="Bahnschrift"/>
              </a:rPr>
              <a:t>Campus Canteens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2" y="2395728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Lunch-rush throughput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with student ID stickers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383280"/>
            <a:ext cx="2377440" cy="1417320"/>
          </a:xfrm>
          <a:prstGeom prst="roundRect">
            <a:avLst>
              <a:gd name="adj" fmla="val 6870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3511296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F2F2"/>
                </a:solidFill>
                <a:latin typeface="Bahnschrift"/>
              </a:rPr>
              <a:t>Event Gates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950208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Wristband entry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and cashless concessions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0" y="3383280"/>
            <a:ext cx="2377440" cy="1417320"/>
          </a:xfrm>
          <a:prstGeom prst="roundRect">
            <a:avLst>
              <a:gd name="adj" fmla="val 6870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64992" y="3511296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F2F2"/>
                </a:solidFill>
                <a:latin typeface="Bahnschrift"/>
              </a:rPr>
              <a:t>Retail Checkout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64992" y="3950208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Sub-cent fees instead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of 2–3% card rails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12064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0B429"/>
                </a:solidFill>
                <a:latin typeface="Segoe UI"/>
              </a:rPr>
              <a:t>₱</a:t>
            </a:r>
            <a:r>
              <a:rPr sz="1300" b="1" i="0">
                <a:solidFill>
                  <a:srgbClr val="F2F2F2"/>
                </a:solidFill>
                <a:latin typeface="Segoe UI"/>
              </a:rPr>
              <a:t>100B+ QR/contactless volume in PH alone. </a:t>
            </a:r>
            <a:r>
              <a:rPr sz="1300" b="0" i="0">
                <a:solidFill>
                  <a:srgbClr val="B8B4AC"/>
                </a:solidFill>
                <a:latin typeface="Segoe UI"/>
              </a:rPr>
              <a:t>Every cashless venue that hates checkout queues is a Noir venue.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13258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How We Compare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106102"/>
              </p:ext>
            </p:extLst>
          </p:nvPr>
        </p:nvGraphicFramePr>
        <p:xfrm>
          <a:off x="6126480" y="1828799"/>
          <a:ext cx="4792806" cy="4222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3152" marR="36576" marT="18288" marB="18288" anchor="ctr">
                    <a:solidFill>
                      <a:srgbClr val="1E18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EMV Tap</a:t>
                      </a:r>
                    </a:p>
                  </a:txBody>
                  <a:tcPr marL="73152" marR="36576" marT="18288" marB="18288" anchor="ctr">
                    <a:solidFill>
                      <a:srgbClr val="1E18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2F2F2"/>
                          </a:solidFill>
                          <a:latin typeface="Segoe UI"/>
                        </a:rPr>
                        <a:t>Apple
Pay</a:t>
                      </a:r>
                    </a:p>
                  </a:txBody>
                  <a:tcPr marL="73152" marR="36576" marT="18288" marB="18288" anchor="ctr">
                    <a:solidFill>
                      <a:srgbClr val="1E18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2F2F2"/>
                          </a:solidFill>
                          <a:latin typeface="Segoe UI"/>
                        </a:rPr>
                        <a:t>Noir
Wallet</a:t>
                      </a:r>
                    </a:p>
                  </a:txBody>
                  <a:tcPr marL="73152" marR="36576" marT="18288" marB="18288" anchor="ctr">
                    <a:solidFill>
                      <a:srgbClr val="1E18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No phone unlock needed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Self-custody of funds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Sub-cent transaction fees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Settlement in seconds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Stickers &amp; wearables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Per-device spend limits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Open smart contracts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88113" y="4115860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98941" y="4375976"/>
            <a:ext cx="18288" cy="18288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636189" y="3437229"/>
            <a:ext cx="13716" cy="13716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43707" y="6257258"/>
            <a:ext cx="13716" cy="13716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08661" y="3625515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67893" y="1586493"/>
            <a:ext cx="27432" cy="27432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430209" y="741509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74837" y="3140218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69340" y="2816769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04194" y="5858717"/>
            <a:ext cx="13716" cy="13716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016256" y="1129647"/>
            <a:ext cx="18288" cy="18288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31782" y="6528397"/>
            <a:ext cx="13716" cy="13716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74102" y="5093801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95400" y="1451262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07150" y="4990684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7297" y="6464464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07669" y="2219721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084668" y="3381060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14783" y="758044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75727" y="4845247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90269" y="3810857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302353" y="3543211"/>
            <a:ext cx="18288" cy="18288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41363" y="503244"/>
            <a:ext cx="27432" cy="27432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54272" y="74101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664905" y="825493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141931" y="47314"/>
            <a:ext cx="13716" cy="13716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91766" y="6817736"/>
            <a:ext cx="18288" cy="18288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70020" y="1865160"/>
            <a:ext cx="27432" cy="27432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946145" y="5582459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849195" y="4298481"/>
            <a:ext cx="27432" cy="27432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37569" y="5075273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037683" y="3539213"/>
            <a:ext cx="13716" cy="13716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60684" y="275475"/>
            <a:ext cx="13716" cy="13716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940193" y="3749814"/>
            <a:ext cx="13716" cy="13716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81719" y="1799522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789826" y="1329344"/>
            <a:ext cx="13716" cy="13716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44386" y="6323497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9288" y="2831349"/>
            <a:ext cx="13716" cy="13716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12940" y="5296279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125822" y="1600608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325499" y="1382225"/>
            <a:ext cx="27432" cy="27432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65770" y="5955417"/>
            <a:ext cx="27432" cy="27432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900859" y="2382402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849604" y="4182285"/>
            <a:ext cx="27432" cy="27432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271234" y="5217535"/>
            <a:ext cx="18288" cy="18288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2F2F2"/>
                </a:solidFill>
                <a:latin typeface="Bahnschrift"/>
              </a:rPr>
              <a:t>Business Model &amp; 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14173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Revenue Streams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1965960"/>
            <a:ext cx="54864" cy="7772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Bahnschrift"/>
              </a:rPr>
              <a:t>Merchant Transaction Fees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228600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A fraction of card-rail pricing — volume over margin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" y="3017520"/>
            <a:ext cx="54864" cy="7772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0120" y="29718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Bahnschrift"/>
              </a:rPr>
              <a:t>Device &amp; Tag Sales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333756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Branded NFC cards, stickers, and wearables for venues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" y="4069080"/>
            <a:ext cx="54864" cy="7772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" y="4023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Bahnschrift"/>
              </a:rPr>
              <a:t>PDAX Conversion Spread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438912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Small margin on automated USDC → PHP liquidation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5120640"/>
            <a:ext cx="54864" cy="7772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" y="50749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Bahnschrift"/>
              </a:rPr>
              <a:t>Enterprise &amp; Developer APIs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544068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White-label tap-to-pay for transit operators and campuses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14173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Roadmap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85632" y="1965960"/>
            <a:ext cx="18288" cy="4297680"/>
          </a:xfrm>
          <a:prstGeom prst="rect">
            <a:avLst/>
          </a:prstGeom>
          <a:solidFill>
            <a:srgbClr val="3A3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403336" y="2148840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89320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Q3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20" y="2441448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B8B4AC"/>
                </a:solidFill>
                <a:latin typeface="Segoe UI"/>
              </a:rPr>
              <a:t>PDAX production integration, terminal authentication, mainnet pilot with first venues</a:t>
            </a:r>
          </a:p>
        </p:txBody>
      </p:sp>
      <p:sp>
        <p:nvSpPr>
          <p:cNvPr id="66" name="Oval 65"/>
          <p:cNvSpPr/>
          <p:nvPr/>
        </p:nvSpPr>
        <p:spPr>
          <a:xfrm>
            <a:off x="8403336" y="3227832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96528" y="313639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Q4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96528" y="3520439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B8B4AC"/>
                </a:solidFill>
                <a:latin typeface="Segoe UI"/>
              </a:rPr>
              <a:t>Offline queue + batch settlement, merchant dashboard, spending analytics</a:t>
            </a:r>
          </a:p>
        </p:txBody>
      </p:sp>
      <p:sp>
        <p:nvSpPr>
          <p:cNvPr id="69" name="Oval 68"/>
          <p:cNvSpPr/>
          <p:nvPr/>
        </p:nvSpPr>
        <p:spPr>
          <a:xfrm>
            <a:off x="8403336" y="4306823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89320" y="4215383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2027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0" y="4599431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B8B4AC"/>
                </a:solidFill>
                <a:latin typeface="Segoe UI"/>
              </a:rPr>
              <a:t>Transit &amp; campus partnerships, wearable product line, multi-asset auto-conversion</a:t>
            </a:r>
          </a:p>
        </p:txBody>
      </p:sp>
      <p:sp>
        <p:nvSpPr>
          <p:cNvPr id="72" name="Oval 71"/>
          <p:cNvSpPr/>
          <p:nvPr/>
        </p:nvSpPr>
        <p:spPr>
          <a:xfrm>
            <a:off x="8403336" y="5385815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796528" y="5294375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Future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96528" y="5678423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B8B4AC"/>
                </a:solidFill>
                <a:latin typeface="Segoe UI"/>
              </a:rPr>
              <a:t>Cross-chain agents, x402 ecosystem APIs, machine-to-machine payments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59639" y="5989500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91567" y="3583473"/>
            <a:ext cx="13716" cy="13716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50872" y="4369440"/>
            <a:ext cx="18288" cy="18288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57756" y="5981020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21208" y="167319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99883" y="1572791"/>
            <a:ext cx="18288" cy="18288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239313" y="791773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09319" y="3350063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8016" y="152109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63964" y="5051042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33279" y="5943432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47550" y="3864197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47827" y="5167011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568" y="4882876"/>
            <a:ext cx="13716" cy="13716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05056" y="3956627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1112" y="1239950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03349" y="1249336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80870" y="5429460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095625" y="5478732"/>
            <a:ext cx="27432" cy="27432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46202" y="1858731"/>
            <a:ext cx="18288" cy="18288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27260" y="5317346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44407" y="3957464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2547" y="4468365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7677" y="5926144"/>
            <a:ext cx="13716" cy="13716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17195" y="3876785"/>
            <a:ext cx="13716" cy="13716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56370" y="5968945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743507" y="1482843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763735" y="6029119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4766" y="5107528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55599" y="6549136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65719" y="636317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8644" y="425984"/>
            <a:ext cx="27432" cy="27432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515631" y="4293466"/>
            <a:ext cx="27432" cy="27432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910570" y="1954725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18410" y="6659357"/>
            <a:ext cx="27432" cy="27432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70866" y="3425979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28043" y="5126740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301745" y="3299357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557716" y="3967569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170935" y="5700886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580420" y="6092693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507242" y="3006547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357963" y="2532802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564567" y="1952152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016904" y="6273688"/>
            <a:ext cx="13716" cy="13716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718864" y="-502920"/>
            <a:ext cx="4754880" cy="4754880"/>
          </a:xfrm>
          <a:prstGeom prst="ellipse">
            <a:avLst/>
          </a:prstGeom>
          <a:noFill/>
          <a:ln w="15240">
            <a:solidFill>
              <a:srgbClr val="201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313224" y="91439"/>
            <a:ext cx="3566160" cy="3566160"/>
          </a:xfrm>
          <a:prstGeom prst="ellipse">
            <a:avLst/>
          </a:prstGeom>
          <a:noFill/>
          <a:ln w="15240">
            <a:solidFill>
              <a:srgbClr val="2C22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861864" y="640079"/>
            <a:ext cx="2468880" cy="2468880"/>
          </a:xfrm>
          <a:prstGeom prst="ellipse">
            <a:avLst/>
          </a:prstGeom>
          <a:noFill/>
          <a:ln w="15240">
            <a:solidFill>
              <a:srgbClr val="382B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logo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376" y="1307591"/>
            <a:ext cx="1133856" cy="113385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71600" y="3063240"/>
            <a:ext cx="9445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2F2F2"/>
                </a:solidFill>
                <a:latin typeface="Bahnschrift"/>
              </a:rPr>
              <a:t>Tap the </a:t>
            </a:r>
            <a:r>
              <a:rPr sz="4800" b="1" i="0">
                <a:solidFill>
                  <a:srgbClr val="F0B429"/>
                </a:solidFill>
                <a:latin typeface="Bahnschrift"/>
              </a:rPr>
              <a:t>future.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114800"/>
            <a:ext cx="7616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B8B4AC"/>
                </a:solidFill>
                <a:latin typeface="Segoe UI"/>
              </a:rPr>
              <a:t>Zero-interaction payments, settled on Stellar in under two seconds.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10127" y="4892040"/>
            <a:ext cx="1503273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x402 Protocol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42001" y="4892040"/>
            <a:ext cx="1020470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Soroban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1" y="4892040"/>
            <a:ext cx="1020470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Stellar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0142" y="4892040"/>
            <a:ext cx="1342339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PDAX Bridge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5715000"/>
            <a:ext cx="7616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8A867E"/>
                </a:solidFill>
                <a:latin typeface="Segoe UI"/>
              </a:rPr>
              <a:t>Noir Wallet · Tap. Pay. Done.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57913" y="4204549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58008" y="5072130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25321" y="6580148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83964" y="3785604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33122" y="332203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18272" y="2890774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05611" y="6432727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14500" y="4199322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64002" y="2142935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33944" y="5659399"/>
            <a:ext cx="27432" cy="27432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55809" y="336899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13031" y="1725367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55981" y="2724480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67239" y="2724090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16719" y="3849416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773" y="6166773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4183" y="3043141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24488" y="398168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10694" y="46345"/>
            <a:ext cx="27432" cy="27432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9606" y="3748761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02387" y="244973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0790" y="3672133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56717" y="4757078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07697" y="5679114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26920" y="823409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652821" y="1949074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64648" y="3265590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705921" y="6547671"/>
            <a:ext cx="27432" cy="27432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56184" y="819407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270123" y="439250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68767" y="4093489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161816" y="524200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6149" y="6810908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32915" y="466558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74638" y="3983961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10370" y="806122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6721" y="2590640"/>
            <a:ext cx="13716" cy="13716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501548" y="5169097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99047" y="4723973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094935" y="6098789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46555" y="6383410"/>
            <a:ext cx="18288" cy="18288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73988" y="6595382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65495" y="1086018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327535" y="4803532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625274" y="5565700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85800" y="411480"/>
            <a:ext cx="2350000" cy="310896"/>
          </a:xfrm>
          <a:prstGeom prst="roundRect">
            <a:avLst>
              <a:gd name="adj" fmla="val 50000"/>
            </a:avLst>
          </a:prstGeom>
          <a:solidFill>
            <a:srgbClr val="3A2600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9144" rIns="73152" bIns="9144" rtlCol="0" anchor="ctr"/>
          <a:lstStyle/>
          <a:p>
            <a:pPr algn="ctr"/>
            <a:r>
              <a:rPr sz="1050" b="1">
                <a:solidFill>
                  <a:srgbClr val="F0B429"/>
                </a:solidFill>
                <a:latin typeface="Bahnschrift"/>
              </a:rPr>
              <a:t>THE HOOK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So Why Can’t I Buy Lunch With Crypto?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2286000"/>
            <a:ext cx="106070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B8B4AC"/>
                </a:solidFill>
                <a:latin typeface="Segoe UI"/>
              </a:rPr>
              <a:t>Everyone says crypto is the future of payments. So why can’t I buy lunch with it? To spend crypto today, I need a cold wallet in my pocket or a phone in my hand — unlock, open, sign, confirm. If paying takes this much effort, people simply won’t use it.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57913" y="4204549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58008" y="5072130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25321" y="6580148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83964" y="3785604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33122" y="332203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18272" y="2890774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05611" y="6432727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14500" y="4199322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64002" y="2142935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33944" y="5659399"/>
            <a:ext cx="27432" cy="27432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55809" y="336899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13031" y="1725367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55981" y="2724480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67239" y="2724090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16719" y="3849416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773" y="6166773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4183" y="3043141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24488" y="398168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10694" y="46345"/>
            <a:ext cx="27432" cy="27432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9606" y="3748761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02387" y="244973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0790" y="3672133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56717" y="4757078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07697" y="5679114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26920" y="823409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652821" y="1949074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64648" y="3265590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705921" y="6547671"/>
            <a:ext cx="27432" cy="27432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56184" y="819407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270123" y="439250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68767" y="4093489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161816" y="524200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6149" y="6810908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32915" y="466558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74638" y="3983961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10370" y="806122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6721" y="2590640"/>
            <a:ext cx="13716" cy="13716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501548" y="5169097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99047" y="4723973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094935" y="6098789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46555" y="6383410"/>
            <a:ext cx="18288" cy="18288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73988" y="6595382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65495" y="1086018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327535" y="4803532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625274" y="5565700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85800" y="411480"/>
            <a:ext cx="2350000" cy="310896"/>
          </a:xfrm>
          <a:prstGeom prst="roundRect">
            <a:avLst>
              <a:gd name="adj" fmla="val 50000"/>
            </a:avLst>
          </a:prstGeom>
          <a:solidFill>
            <a:srgbClr val="3A2600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9144" rIns="73152" bIns="9144" rtlCol="0" anchor="ctr"/>
          <a:lstStyle/>
          <a:p>
            <a:pPr algn="ctr"/>
            <a:r>
              <a:rPr sz="1050" b="1">
                <a:solidFill>
                  <a:srgbClr val="F0B429"/>
                </a:solidFill>
                <a:latin typeface="Bahnschrift"/>
              </a:rPr>
              <a:t>THE PRINCIPLE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Effortless Is What Defines the Future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1700000"/>
            <a:ext cx="1060704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The future of payments isn’t defined by the technology behind them — it’s defined by how effortless they are to use. Every generation of payment systems has removed friction: from cash, to cards, to contactless tap-to-pay. The next step is making blockchain payments just as seamless.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" y="3450000"/>
            <a:ext cx="1060704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B429"/>
                </a:solidFill>
                <a:latin typeface="Segoe UI"/>
              </a:rPr>
              <a:t>From research to vision: </a:t>
            </a:r>
            <a:r>
              <a:rPr sz="1300" b="0" i="0">
                <a:solidFill>
                  <a:srgbClr val="B8B4AC"/>
                </a:solidFill>
                <a:latin typeface="Segoe UI"/>
              </a:rPr>
              <a:t>during senior high school, for our Research 2 subject, I conducted a study on the acceptability of decentralized applications using the Technology Acceptance Model (TAM) as our theoretical framework. Our findings reinforced a simple idea: when technology is easier to use and requires less effort, people are far more likely to adopt it. That insight shaped the vision behind Noir Wallet.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57913" y="4204549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58008" y="5072130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25321" y="6580148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83964" y="3785604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33122" y="332203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18272" y="2890774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05611" y="6432727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14500" y="4199322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64002" y="2142935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33944" y="5659399"/>
            <a:ext cx="27432" cy="27432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55809" y="336899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13031" y="1725367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55981" y="2724480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67239" y="2724090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16719" y="3849416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773" y="6166773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4183" y="3043141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24488" y="398168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10694" y="46345"/>
            <a:ext cx="27432" cy="27432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9606" y="3748761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02387" y="244973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0790" y="3672133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56717" y="4757078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07697" y="5679114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26920" y="823409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652821" y="1949074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64648" y="3265590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705921" y="6547671"/>
            <a:ext cx="27432" cy="27432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56184" y="819407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270123" y="439250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68767" y="4093489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161816" y="524200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6149" y="6810908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32915" y="466558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74638" y="3983961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10370" y="806122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6721" y="2590640"/>
            <a:ext cx="13716" cy="13716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501548" y="5169097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99047" y="4723973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094935" y="6098789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46555" y="6383410"/>
            <a:ext cx="18288" cy="18288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73988" y="6595382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65495" y="1086018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327535" y="4803532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625274" y="5565700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85800" y="411480"/>
            <a:ext cx="2350000" cy="310896"/>
          </a:xfrm>
          <a:prstGeom prst="roundRect">
            <a:avLst>
              <a:gd name="adj" fmla="val 50000"/>
            </a:avLst>
          </a:prstGeom>
          <a:solidFill>
            <a:srgbClr val="3A2600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9144" rIns="73152" bIns="9144" rtlCol="0" anchor="ctr"/>
          <a:lstStyle/>
          <a:p>
            <a:pPr algn="ctr"/>
            <a:r>
              <a:rPr sz="1050" b="1">
                <a:solidFill>
                  <a:srgbClr val="F0B429"/>
                </a:solidFill>
                <a:latin typeface="Bahnschrift"/>
              </a:rPr>
              <a:t>THE 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Introducing Noir Wallet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2286000"/>
            <a:ext cx="106070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B8B4AC"/>
                </a:solidFill>
                <a:latin typeface="Segoe UI"/>
              </a:rPr>
              <a:t>Noir Wallet brings the convenience of tap-to-pay to blockchain. Simply tap an NFC card, sticker, or wearable — and the payment is complete. </a:t>
            </a:r>
            <a:r>
              <a:rPr sz="2000" b="1" i="0">
                <a:solidFill>
                  <a:srgbClr val="F0B429"/>
                </a:solidFill>
                <a:latin typeface="Segoe UI"/>
              </a:rPr>
              <a:t>No app. No unlock. No confirmation.</a:t>
            </a:r>
            <a:r>
              <a:rPr sz="2000" b="0" i="0">
                <a:solidFill>
                  <a:srgbClr val="B8B4AC"/>
                </a:solidFill>
                <a:latin typeface="Segoe UI"/>
              </a:rPr>
              <a:t> Our x402 protocol authorizes the payment the moment your NFC tag touches the terminal, while Stellar settles the transaction in under two seconds for a fraction of a cent.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57913" y="4204549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58008" y="5072130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25321" y="6580148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83964" y="3785604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33122" y="332203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18272" y="2890774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05611" y="6432727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14500" y="4199322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64002" y="2142935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33944" y="5659399"/>
            <a:ext cx="27432" cy="27432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55809" y="336899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13031" y="1725367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55981" y="2724480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67239" y="2724090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16719" y="3849416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773" y="6166773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4183" y="3043141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24488" y="398168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10694" y="46345"/>
            <a:ext cx="27432" cy="27432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9606" y="3748761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02387" y="244973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0790" y="3672133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56717" y="4757078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07697" y="5679114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26920" y="823409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652821" y="1949074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64648" y="3265590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705921" y="6547671"/>
            <a:ext cx="27432" cy="27432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56184" y="819407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270123" y="439250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68767" y="4093489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161816" y="524200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6149" y="6810908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32915" y="466558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74638" y="3983961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10370" y="806122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6721" y="2590640"/>
            <a:ext cx="13716" cy="13716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501548" y="5169097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99047" y="4723973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094935" y="6098789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46555" y="6383410"/>
            <a:ext cx="18288" cy="18288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73988" y="6595382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65495" y="1086018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327535" y="4803532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625274" y="5565700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85800" y="411480"/>
            <a:ext cx="2350000" cy="310896"/>
          </a:xfrm>
          <a:prstGeom prst="roundRect">
            <a:avLst>
              <a:gd name="adj" fmla="val 50000"/>
            </a:avLst>
          </a:prstGeom>
          <a:solidFill>
            <a:srgbClr val="3A2600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9144" rIns="73152" bIns="9144" rtlCol="0" anchor="ctr"/>
          <a:lstStyle/>
          <a:p>
            <a:pPr algn="ctr"/>
            <a:r>
              <a:rPr sz="1050" b="1">
                <a:solidFill>
                  <a:srgbClr val="F0B429"/>
                </a:solidFill>
                <a:latin typeface="Bahnschrift"/>
              </a:rPr>
              <a:t>TRUST &amp; 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Simple to Use. Robust by Design.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2286000"/>
            <a:ext cx="1060704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B8B4AC"/>
                </a:solidFill>
                <a:latin typeface="Segoe UI"/>
              </a:rPr>
              <a:t>The experience is simple, but the security is robust. Every NFC device is linked to its own agent wallet with a configurable daily spending limit. If it’s lost, you can revoke it instantly, and the remaining funds are automatically returned to your main wallet. Device identities are hashed on-chain through Soroban, terminals are whitelisted, and every transaction is protected against replay attacks.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9639" y="5989500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91567" y="3583473"/>
            <a:ext cx="13716" cy="13716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50872" y="4369440"/>
            <a:ext cx="18288" cy="18288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57756" y="5981020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21208" y="167319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99883" y="1572791"/>
            <a:ext cx="18288" cy="18288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239313" y="791773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09319" y="3350063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8016" y="152109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63964" y="5051042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33279" y="5943432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47550" y="3864197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47827" y="5167011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568" y="4882876"/>
            <a:ext cx="13716" cy="13716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05056" y="3956627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1112" y="1239950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03349" y="1249336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80870" y="5429460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095625" y="5478732"/>
            <a:ext cx="27432" cy="27432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46202" y="1858731"/>
            <a:ext cx="18288" cy="18288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27260" y="5317346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44407" y="3957464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2547" y="4468365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7677" y="5926144"/>
            <a:ext cx="13716" cy="13716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17195" y="3876785"/>
            <a:ext cx="13716" cy="13716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56370" y="5968945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743507" y="1482843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763735" y="6029119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4766" y="5107528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55599" y="6549136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65719" y="636317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8644" y="425984"/>
            <a:ext cx="27432" cy="27432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515631" y="4293466"/>
            <a:ext cx="27432" cy="27432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910570" y="1954725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18410" y="6659357"/>
            <a:ext cx="27432" cy="27432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70866" y="3425979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28043" y="5126740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301745" y="3299357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557716" y="3967569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170935" y="5700886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580420" y="6092693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507242" y="3006547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357963" y="2532802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564567" y="1952152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016904" y="6273688"/>
            <a:ext cx="13716" cy="13716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718864" y="-502920"/>
            <a:ext cx="4754880" cy="4754880"/>
          </a:xfrm>
          <a:prstGeom prst="ellipse">
            <a:avLst/>
          </a:prstGeom>
          <a:noFill/>
          <a:ln w="15240">
            <a:solidFill>
              <a:srgbClr val="201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313224" y="91439"/>
            <a:ext cx="3566160" cy="3566160"/>
          </a:xfrm>
          <a:prstGeom prst="ellipse">
            <a:avLst/>
          </a:prstGeom>
          <a:noFill/>
          <a:ln w="15240">
            <a:solidFill>
              <a:srgbClr val="2C22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861864" y="640079"/>
            <a:ext cx="2468880" cy="2468880"/>
          </a:xfrm>
          <a:prstGeom prst="ellipse">
            <a:avLst/>
          </a:prstGeom>
          <a:noFill/>
          <a:ln w="15240">
            <a:solidFill>
              <a:srgbClr val="382B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logo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376" y="1307591"/>
            <a:ext cx="1133856" cy="113385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71600" y="3063240"/>
            <a:ext cx="9445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2F2F2"/>
                </a:solidFill>
                <a:latin typeface="Bahnschrift"/>
              </a:rPr>
              <a:t>Tap the </a:t>
            </a:r>
            <a:r>
              <a:rPr sz="4800" b="1" i="0">
                <a:solidFill>
                  <a:srgbClr val="F0B429"/>
                </a:solidFill>
                <a:latin typeface="Bahnschrift"/>
              </a:rPr>
              <a:t>present.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3124" y="4114800"/>
            <a:ext cx="9445752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B8B4AC"/>
                </a:solidFill>
                <a:latin typeface="Segoe UI"/>
              </a:rPr>
              <a:t>The future of payments isn’t about asking people to change their habits — it’s about making blockchain fit the habits they already have. With Noir Wallet, paying with crypto becomes as simple as a tap. And that’s how the future of payments becomes the present.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10127" y="5900000"/>
            <a:ext cx="1503273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x402 Protocol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42001" y="5900000"/>
            <a:ext cx="1020470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Soroban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1" y="5900000"/>
            <a:ext cx="1020470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Stellar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0142" y="5900000"/>
            <a:ext cx="1342339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PDAX Bridge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6350000"/>
            <a:ext cx="7616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8A867E"/>
                </a:solidFill>
                <a:latin typeface="Segoe UI"/>
              </a:rPr>
              <a:t>Noir Wallet · Tap. Pay. Done.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1068</Words>
  <Application>Microsoft Office PowerPoint</Application>
  <PresentationFormat>Widescreen</PresentationFormat>
  <Paragraphs>179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Bahnschrift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Johnrick Rabara</cp:lastModifiedBy>
  <cp:revision>2</cp:revision>
  <dcterms:created xsi:type="dcterms:W3CDTF">2013-01-27T09:14:16Z</dcterms:created>
  <dcterms:modified xsi:type="dcterms:W3CDTF">2026-07-13T13:10:13Z</dcterms:modified>
  <cp:category/>
</cp:coreProperties>
</file>